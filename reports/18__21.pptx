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105021"/>
            <a:ext cx="7315200" cy="29334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14400" y="1105021"/>
            <a:ext cx="7315200" cy="28575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4009876"/>
            <a:ext cx="7315200" cy="28575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725662"/>
            <a:ext cx="7315200" cy="132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18대~21대 대한민국 대선</a:t>
            </a:r>
            <a:r>
              <a:rPr lang="en-US" sz="3294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r>
              <a:rPr lang="en-US" sz="3294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보고서</a:t>
            </a:r>
            <a:endParaRPr lang="en-US" sz="3294" dirty="0"/>
          </a:p>
        </p:txBody>
      </p:sp>
      <p:sp>
        <p:nvSpPr>
          <p:cNvPr id="7" name="Text 4"/>
          <p:cNvSpPr/>
          <p:nvPr/>
        </p:nvSpPr>
        <p:spPr>
          <a:xfrm>
            <a:off x="914400" y="3279428"/>
            <a:ext cx="731520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선거 트렌드 및 권역별 득표 패턴 심층 분석</a:t>
            </a:r>
            <a:endParaRPr lang="en-US" sz="1704" dirty="0"/>
          </a:p>
        </p:txBody>
      </p:sp>
      <p:sp>
        <p:nvSpPr>
          <p:cNvPr id="8" name="Text 5"/>
          <p:cNvSpPr/>
          <p:nvPr/>
        </p:nvSpPr>
        <p:spPr>
          <a:xfrm>
            <a:off x="3704034" y="4650581"/>
            <a:ext cx="17359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04. 14 | 데이터 분석팀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770381"/>
            <a:ext cx="7858125" cy="49649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대선 결과 요약 (18대~21대)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6509" y="1413318"/>
            <a:ext cx="1570174" cy="398264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509" y="1413318"/>
            <a:ext cx="1570174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2216683" y="1413318"/>
            <a:ext cx="1570202" cy="398264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16683" y="1413318"/>
            <a:ext cx="1570202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18대 (2012)</a:t>
            </a:r>
            <a:endParaRPr lang="en-US" sz="1193" dirty="0"/>
          </a:p>
        </p:txBody>
      </p:sp>
      <p:sp>
        <p:nvSpPr>
          <p:cNvPr id="8" name="Shape 5"/>
          <p:cNvSpPr/>
          <p:nvPr/>
        </p:nvSpPr>
        <p:spPr>
          <a:xfrm>
            <a:off x="3786885" y="1413318"/>
            <a:ext cx="1685925" cy="398264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86885" y="1413318"/>
            <a:ext cx="1685925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19대 (2017)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5472810" y="1413318"/>
            <a:ext cx="1454451" cy="398264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72810" y="1413318"/>
            <a:ext cx="1454451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(2022)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6927261" y="1413318"/>
            <a:ext cx="1570230" cy="398264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27261" y="1413318"/>
            <a:ext cx="1570230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21대 (2025)</a:t>
            </a:r>
            <a:endParaRPr lang="en-US" sz="1193" dirty="0"/>
          </a:p>
        </p:txBody>
      </p:sp>
      <p:sp>
        <p:nvSpPr>
          <p:cNvPr id="14" name="Shape 11"/>
          <p:cNvSpPr/>
          <p:nvPr/>
        </p:nvSpPr>
        <p:spPr>
          <a:xfrm>
            <a:off x="646509" y="1804439"/>
            <a:ext cx="1570174" cy="398264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509" y="1804439"/>
            <a:ext cx="1570174" cy="398264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당선자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2216683" y="1804439"/>
            <a:ext cx="1570202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박근혜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3786885" y="1804439"/>
            <a:ext cx="1685925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문재인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5472810" y="1804439"/>
            <a:ext cx="1454451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윤석열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6927261" y="1804439"/>
            <a:ext cx="1570230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이재명</a:t>
            </a:r>
            <a:endParaRPr lang="en-US" sz="1193" dirty="0"/>
          </a:p>
        </p:txBody>
      </p:sp>
      <p:sp>
        <p:nvSpPr>
          <p:cNvPr id="20" name="Shape 17"/>
          <p:cNvSpPr/>
          <p:nvPr/>
        </p:nvSpPr>
        <p:spPr>
          <a:xfrm>
            <a:off x="646509" y="2202703"/>
            <a:ext cx="1570174" cy="398264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509" y="2202703"/>
            <a:ext cx="1570174" cy="398264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투표율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2216683" y="2202703"/>
            <a:ext cx="1570202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75.8%</a:t>
            </a:r>
            <a:endParaRPr lang="en-US" sz="1269" dirty="0"/>
          </a:p>
        </p:txBody>
      </p:sp>
      <p:sp>
        <p:nvSpPr>
          <p:cNvPr id="23" name="Text 20"/>
          <p:cNvSpPr/>
          <p:nvPr/>
        </p:nvSpPr>
        <p:spPr>
          <a:xfrm>
            <a:off x="3786885" y="2202703"/>
            <a:ext cx="1685925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77.2%</a:t>
            </a:r>
            <a:endParaRPr lang="en-US" sz="1269" dirty="0"/>
          </a:p>
        </p:txBody>
      </p:sp>
      <p:sp>
        <p:nvSpPr>
          <p:cNvPr id="24" name="Text 21"/>
          <p:cNvSpPr/>
          <p:nvPr/>
        </p:nvSpPr>
        <p:spPr>
          <a:xfrm>
            <a:off x="5472810" y="2202703"/>
            <a:ext cx="1454451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77.1%</a:t>
            </a:r>
            <a:endParaRPr lang="en-US" sz="1269" dirty="0"/>
          </a:p>
        </p:txBody>
      </p:sp>
      <p:sp>
        <p:nvSpPr>
          <p:cNvPr id="25" name="Text 22"/>
          <p:cNvSpPr/>
          <p:nvPr/>
        </p:nvSpPr>
        <p:spPr>
          <a:xfrm>
            <a:off x="6927261" y="2202703"/>
            <a:ext cx="1570230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79.4%</a:t>
            </a:r>
            <a:endParaRPr lang="en-US" sz="1269" dirty="0"/>
          </a:p>
        </p:txBody>
      </p:sp>
      <p:sp>
        <p:nvSpPr>
          <p:cNvPr id="26" name="Shape 23"/>
          <p:cNvSpPr/>
          <p:nvPr/>
        </p:nvSpPr>
        <p:spPr>
          <a:xfrm>
            <a:off x="646509" y="2600967"/>
            <a:ext cx="1570174" cy="398264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6509" y="2600967"/>
            <a:ext cx="1570174" cy="398264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당선자 득표율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2216683" y="2600967"/>
            <a:ext cx="1570202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51.6%</a:t>
            </a:r>
            <a:endParaRPr lang="en-US" sz="1269" dirty="0"/>
          </a:p>
        </p:txBody>
      </p:sp>
      <p:sp>
        <p:nvSpPr>
          <p:cNvPr id="29" name="Text 26"/>
          <p:cNvSpPr/>
          <p:nvPr/>
        </p:nvSpPr>
        <p:spPr>
          <a:xfrm>
            <a:off x="3786885" y="2600967"/>
            <a:ext cx="1685925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41.1%</a:t>
            </a:r>
            <a:endParaRPr lang="en-US" sz="1269" dirty="0"/>
          </a:p>
        </p:txBody>
      </p:sp>
      <p:sp>
        <p:nvSpPr>
          <p:cNvPr id="30" name="Text 27"/>
          <p:cNvSpPr/>
          <p:nvPr/>
        </p:nvSpPr>
        <p:spPr>
          <a:xfrm>
            <a:off x="5472810" y="2600967"/>
            <a:ext cx="1454451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48.6%</a:t>
            </a:r>
            <a:endParaRPr lang="en-US" sz="1269" dirty="0"/>
          </a:p>
        </p:txBody>
      </p:sp>
      <p:sp>
        <p:nvSpPr>
          <p:cNvPr id="31" name="Text 28"/>
          <p:cNvSpPr/>
          <p:nvPr/>
        </p:nvSpPr>
        <p:spPr>
          <a:xfrm>
            <a:off x="6927261" y="2600967"/>
            <a:ext cx="1570230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49.4%</a:t>
            </a:r>
            <a:endParaRPr lang="en-US" sz="1269" dirty="0"/>
          </a:p>
        </p:txBody>
      </p:sp>
      <p:sp>
        <p:nvSpPr>
          <p:cNvPr id="32" name="Shape 29"/>
          <p:cNvSpPr/>
          <p:nvPr/>
        </p:nvSpPr>
        <p:spPr>
          <a:xfrm>
            <a:off x="646509" y="2999231"/>
            <a:ext cx="1570174" cy="398264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6509" y="2999231"/>
            <a:ext cx="1570174" cy="398264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2위 득표율</a:t>
            </a:r>
            <a:endParaRPr lang="en-US" sz="1193" dirty="0"/>
          </a:p>
        </p:txBody>
      </p:sp>
      <p:sp>
        <p:nvSpPr>
          <p:cNvPr id="34" name="Text 31"/>
          <p:cNvSpPr/>
          <p:nvPr/>
        </p:nvSpPr>
        <p:spPr>
          <a:xfrm>
            <a:off x="2216683" y="2999231"/>
            <a:ext cx="1570202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48.0%</a:t>
            </a:r>
            <a:endParaRPr lang="en-US" sz="1269" dirty="0"/>
          </a:p>
        </p:txBody>
      </p:sp>
      <p:sp>
        <p:nvSpPr>
          <p:cNvPr id="35" name="Text 32"/>
          <p:cNvSpPr/>
          <p:nvPr/>
        </p:nvSpPr>
        <p:spPr>
          <a:xfrm>
            <a:off x="3786885" y="2999231"/>
            <a:ext cx="1685925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24.0%</a:t>
            </a:r>
            <a:endParaRPr lang="en-US" sz="1269" dirty="0"/>
          </a:p>
        </p:txBody>
      </p:sp>
      <p:sp>
        <p:nvSpPr>
          <p:cNvPr id="36" name="Text 33"/>
          <p:cNvSpPr/>
          <p:nvPr/>
        </p:nvSpPr>
        <p:spPr>
          <a:xfrm>
            <a:off x="5472810" y="2999231"/>
            <a:ext cx="1454451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48.3%</a:t>
            </a:r>
            <a:endParaRPr lang="en-US" sz="1269" dirty="0"/>
          </a:p>
        </p:txBody>
      </p:sp>
      <p:sp>
        <p:nvSpPr>
          <p:cNvPr id="37" name="Text 34"/>
          <p:cNvSpPr/>
          <p:nvPr/>
        </p:nvSpPr>
        <p:spPr>
          <a:xfrm>
            <a:off x="6927261" y="2999231"/>
            <a:ext cx="1570230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41.2%</a:t>
            </a:r>
            <a:endParaRPr lang="en-US" sz="1269" dirty="0"/>
          </a:p>
        </p:txBody>
      </p:sp>
      <p:sp>
        <p:nvSpPr>
          <p:cNvPr id="38" name="Shape 35"/>
          <p:cNvSpPr/>
          <p:nvPr/>
        </p:nvSpPr>
        <p:spPr>
          <a:xfrm>
            <a:off x="646509" y="3397495"/>
            <a:ext cx="1570174" cy="398264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6509" y="3397495"/>
            <a:ext cx="1570174" cy="398264"/>
          </a:xfrm>
          <a:prstGeom prst="rect">
            <a:avLst/>
          </a:prstGeom>
          <a:noFill/>
          <a:ln/>
        </p:spPr>
        <p:txBody>
          <a:bodyPr wrap="square" lIns="170053" tIns="85090" rIns="8509" bIns="85090" rtlCol="0" anchor="ctr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표차</a:t>
            </a:r>
            <a:endParaRPr lang="en-US" sz="1193" dirty="0"/>
          </a:p>
        </p:txBody>
      </p:sp>
      <p:sp>
        <p:nvSpPr>
          <p:cNvPr id="40" name="Text 37"/>
          <p:cNvSpPr/>
          <p:nvPr/>
        </p:nvSpPr>
        <p:spPr>
          <a:xfrm>
            <a:off x="2213837" y="3397495"/>
            <a:ext cx="1570899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108만표 (3.5%p)</a:t>
            </a:r>
            <a:endParaRPr lang="en-US" sz="1269" dirty="0"/>
          </a:p>
        </p:txBody>
      </p:sp>
      <p:sp>
        <p:nvSpPr>
          <p:cNvPr id="41" name="Text 38"/>
          <p:cNvSpPr/>
          <p:nvPr/>
        </p:nvSpPr>
        <p:spPr>
          <a:xfrm>
            <a:off x="3784736" y="3397495"/>
            <a:ext cx="1686706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557만표 (17.1%p)</a:t>
            </a:r>
            <a:endParaRPr lang="en-US" sz="1269" dirty="0"/>
          </a:p>
        </p:txBody>
      </p:sp>
      <p:sp>
        <p:nvSpPr>
          <p:cNvPr id="42" name="Text 39"/>
          <p:cNvSpPr/>
          <p:nvPr/>
        </p:nvSpPr>
        <p:spPr>
          <a:xfrm>
            <a:off x="5471443" y="3397495"/>
            <a:ext cx="1455093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25만표 (0.3%p)</a:t>
            </a:r>
            <a:endParaRPr lang="en-US" sz="1269" dirty="0"/>
          </a:p>
        </p:txBody>
      </p:sp>
      <p:sp>
        <p:nvSpPr>
          <p:cNvPr id="43" name="Text 40"/>
          <p:cNvSpPr/>
          <p:nvPr/>
        </p:nvSpPr>
        <p:spPr>
          <a:xfrm>
            <a:off x="6926535" y="3397495"/>
            <a:ext cx="1570955" cy="398264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289만표 (8.2%p)</a:t>
            </a:r>
            <a:endParaRPr lang="en-US" sz="12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756093"/>
            <a:ext cx="7858125" cy="49649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1: 호남은 민주당, 영남은 보수당의 견고한 기반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452609"/>
            <a:ext cx="3771900" cy="473273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1452609"/>
            <a:ext cx="3771900" cy="47327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호남권 (광주/전라)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928688" y="2097332"/>
            <a:ext cx="3486150" cy="51435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민주당 계열 후보가 4회 연속 80% 이상의 압도적 득표율 기록 (19대 제외)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928688" y="2697407"/>
            <a:ext cx="3486150" cy="51435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정치적 선명성이 가장 강한 지역으로, 민주당의 핵심 심장부 역할 수행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928688" y="3297482"/>
            <a:ext cx="3486150" cy="51435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21대 대선에서도 이재명 후보에게 83.9%의 압도적 지지 표명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928688" y="2097332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928688" y="2697407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928688" y="3297482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4729163" y="1452609"/>
            <a:ext cx="3771900" cy="473273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0"/>
          <p:cNvSpPr/>
          <p:nvPr/>
        </p:nvSpPr>
        <p:spPr>
          <a:xfrm>
            <a:off x="4729163" y="1452609"/>
            <a:ext cx="3771900" cy="47327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영남권 (부·울·경/대·경)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5014913" y="2097332"/>
            <a:ext cx="3486150" cy="51435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보수 진영의 전통적 핵심 기반이나, 19대 탄핵 정국 이후 지지세 분산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5014913" y="2697407"/>
            <a:ext cx="3486150" cy="51435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21대 대선 보수 득표율 57.1%로 회복세이나 과거 68% 수준에는 미달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5014913" y="3297482"/>
            <a:ext cx="3486150" cy="514350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제3후보(이준석 등)의 등장 시 보수표 유출이 가장 민감하게 발생하는 지역</a:t>
            </a: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5014913" y="2097332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5014913" y="2697407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5014913" y="3297482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</a:t>
            </a:r>
            <a:endParaRPr lang="en-US" sz="12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756093"/>
            <a:ext cx="7858125" cy="49649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2: 대전·충청권의 '스윙 보터' 역할 강화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928688" y="1652634"/>
            <a:ext cx="4406578" cy="631496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최다 변동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대전·충북·충남은 4번의 선거 중 3번이나 우세 후보가 교체된 유일한 권역</a:t>
            </a:r>
            <a:endParaRPr lang="en-US" sz="1295" dirty="0"/>
          </a:p>
        </p:txBody>
      </p:sp>
      <p:sp>
        <p:nvSpPr>
          <p:cNvPr id="5" name="Text 2"/>
          <p:cNvSpPr/>
          <p:nvPr/>
        </p:nvSpPr>
        <p:spPr>
          <a:xfrm>
            <a:off x="928688" y="2462724"/>
            <a:ext cx="4406578" cy="631496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정치적 풍향계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특정 진영에 고착되지 않고 선거 당시의 민심을 가장 정확히 반영하는 진정한 경합지</a:t>
            </a:r>
            <a:endParaRPr lang="en-US" sz="1295" dirty="0"/>
          </a:p>
        </p:txBody>
      </p:sp>
      <p:sp>
        <p:nvSpPr>
          <p:cNvPr id="6" name="Text 3"/>
          <p:cNvSpPr/>
          <p:nvPr/>
        </p:nvSpPr>
        <p:spPr>
          <a:xfrm>
            <a:off x="928688" y="3272814"/>
            <a:ext cx="4406578" cy="631496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강원 지역의 동조화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강원도 역시 3회 변동(보수→민주→보수→보수)을 보이며 충청권과 유사한 흐름 공유</a:t>
            </a:r>
            <a:endParaRPr lang="en-US" sz="1295" dirty="0"/>
          </a:p>
        </p:txBody>
      </p:sp>
      <p:sp>
        <p:nvSpPr>
          <p:cNvPr id="7" name="Shape 4"/>
          <p:cNvSpPr/>
          <p:nvPr/>
        </p:nvSpPr>
        <p:spPr>
          <a:xfrm>
            <a:off x="5335265" y="1466897"/>
            <a:ext cx="3165797" cy="32981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5335265" y="1466897"/>
            <a:ext cx="3165797" cy="35719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" name="Text 6"/>
          <p:cNvSpPr/>
          <p:nvPr/>
        </p:nvSpPr>
        <p:spPr>
          <a:xfrm>
            <a:off x="928688" y="1652634"/>
            <a:ext cx="185738" cy="315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377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77" dirty="0"/>
          </a:p>
        </p:txBody>
      </p:sp>
      <p:sp>
        <p:nvSpPr>
          <p:cNvPr id="10" name="Text 7"/>
          <p:cNvSpPr/>
          <p:nvPr/>
        </p:nvSpPr>
        <p:spPr>
          <a:xfrm>
            <a:off x="928688" y="2462724"/>
            <a:ext cx="185738" cy="315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377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77" dirty="0"/>
          </a:p>
        </p:txBody>
      </p:sp>
      <p:sp>
        <p:nvSpPr>
          <p:cNvPr id="11" name="Text 8"/>
          <p:cNvSpPr/>
          <p:nvPr/>
        </p:nvSpPr>
        <p:spPr>
          <a:xfrm>
            <a:off x="928688" y="3272814"/>
            <a:ext cx="185738" cy="315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377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377" dirty="0"/>
          </a:p>
        </p:txBody>
      </p:sp>
      <p:sp>
        <p:nvSpPr>
          <p:cNvPr id="12" name="Text 9"/>
          <p:cNvSpPr/>
          <p:nvPr/>
        </p:nvSpPr>
        <p:spPr>
          <a:xfrm>
            <a:off x="5549578" y="1881234"/>
            <a:ext cx="273717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충청권 우세 후보 변천사</a:t>
            </a:r>
            <a:endParaRPr lang="en-US" sz="1397" dirty="0"/>
          </a:p>
        </p:txBody>
      </p:sp>
      <p:sp>
        <p:nvSpPr>
          <p:cNvPr id="13" name="Shape 10"/>
          <p:cNvSpPr/>
          <p:nvPr/>
        </p:nvSpPr>
        <p:spPr>
          <a:xfrm>
            <a:off x="5549578" y="2313431"/>
            <a:ext cx="600075" cy="340026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4" name="Text 11"/>
          <p:cNvSpPr/>
          <p:nvPr/>
        </p:nvSpPr>
        <p:spPr>
          <a:xfrm>
            <a:off x="5549578" y="2313431"/>
            <a:ext cx="600075" cy="34002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18대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6256809" y="2342006"/>
            <a:ext cx="885825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09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박근혜 (보수)</a:t>
            </a:r>
            <a:endParaRPr lang="en-US" sz="1090" dirty="0"/>
          </a:p>
        </p:txBody>
      </p:sp>
      <p:sp>
        <p:nvSpPr>
          <p:cNvPr id="16" name="Shape 13"/>
          <p:cNvSpPr/>
          <p:nvPr/>
        </p:nvSpPr>
        <p:spPr>
          <a:xfrm>
            <a:off x="5549578" y="2760613"/>
            <a:ext cx="600075" cy="340026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7" name="Text 14"/>
          <p:cNvSpPr/>
          <p:nvPr/>
        </p:nvSpPr>
        <p:spPr>
          <a:xfrm>
            <a:off x="5549578" y="2760613"/>
            <a:ext cx="600075" cy="34002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19대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6256809" y="2789188"/>
            <a:ext cx="885825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09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문재인 (민주)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5549578" y="3207795"/>
            <a:ext cx="600075" cy="340026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0" name="Text 17"/>
          <p:cNvSpPr/>
          <p:nvPr/>
        </p:nvSpPr>
        <p:spPr>
          <a:xfrm>
            <a:off x="5549578" y="3207795"/>
            <a:ext cx="600075" cy="34002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6256809" y="3236370"/>
            <a:ext cx="885825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09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윤석열 (보수)</a:t>
            </a:r>
            <a:endParaRPr lang="en-US" sz="1090" dirty="0"/>
          </a:p>
        </p:txBody>
      </p:sp>
      <p:sp>
        <p:nvSpPr>
          <p:cNvPr id="22" name="Shape 19"/>
          <p:cNvSpPr/>
          <p:nvPr/>
        </p:nvSpPr>
        <p:spPr>
          <a:xfrm>
            <a:off x="5549578" y="3654977"/>
            <a:ext cx="600075" cy="340026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3" name="Text 20"/>
          <p:cNvSpPr/>
          <p:nvPr/>
        </p:nvSpPr>
        <p:spPr>
          <a:xfrm>
            <a:off x="5549578" y="3654977"/>
            <a:ext cx="600075" cy="34002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21대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6256809" y="3683552"/>
            <a:ext cx="885825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090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이재명 (민주)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5549578" y="4137878"/>
            <a:ext cx="2737172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충청권 보수 득표율: 53.5% → 21.6% → 48.4% → 41.5%로 급격한 요동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424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784668"/>
            <a:ext cx="7858125" cy="49649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3: 수도권 승리가 곧 대선 승리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495472"/>
            <a:ext cx="7858125" cy="119300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1902665"/>
            <a:ext cx="7858125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수도권(서울·인천·경기) 유권자 비중 = 전체의 약 </a:t>
            </a:r>
            <a:r>
              <a:rPr lang="en-US" sz="1602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642938" y="2461664"/>
            <a:ext cx="7858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수도권을 가져간 후보가 거의 항상 최종 당선자로 확정</a:t>
            </a:r>
            <a:endParaRPr lang="en-US" sz="1159" dirty="0"/>
          </a:p>
        </p:txBody>
      </p:sp>
      <p:sp>
        <p:nvSpPr>
          <p:cNvPr id="7" name="Text 4"/>
          <p:cNvSpPr/>
          <p:nvPr/>
        </p:nvSpPr>
        <p:spPr>
          <a:xfrm>
            <a:off x="650081" y="3224259"/>
            <a:ext cx="3843338" cy="248245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18대 대선 (2012)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650081" y="3615379"/>
            <a:ext cx="3843338" cy="42862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박근혜 49.9% &gt; 문재인 49.4%</a:t>
            </a: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 미세 우세 → </a:t>
            </a:r>
            <a:r>
              <a:rPr lang="en-US" sz="987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박근혜 당선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650581" y="3224259"/>
            <a:ext cx="3843338" cy="248245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19대 대선 (2017)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650581" y="3615379"/>
            <a:ext cx="3843338" cy="42862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문재인 41.7% &gt; 홍준표 20.7%</a:t>
            </a: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 압도적 우세 → </a:t>
            </a:r>
            <a:r>
              <a:rPr lang="en-US" sz="987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문재인 당선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0081" y="4658367"/>
            <a:ext cx="3843338" cy="248245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대선 (2022) - 유일한 예외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50081" y="5049487"/>
            <a:ext cx="3843338" cy="6429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이재명 48.1% &gt; 윤석열 47.3%</a:t>
            </a: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수도권은 이재명 우세였으나, 영남권 대승으로 </a:t>
            </a:r>
            <a:r>
              <a:rPr lang="en-US" sz="987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윤석열 역전 당</a:t>
            </a:r>
            <a:r>
              <a:rPr lang="en-US" sz="987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50581" y="4658367"/>
            <a:ext cx="3843338" cy="248245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21대 대선 (2025)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4650581" y="5049487"/>
            <a:ext cx="3843338" cy="42862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이재명 49.9% &gt; 김문수 39.1%</a:t>
            </a: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 격차 확대 → </a:t>
            </a:r>
            <a:r>
              <a:rPr lang="en-US" sz="987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이재명 당선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756093"/>
            <a:ext cx="7858125" cy="49649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4: 표차의 진자 운동 (초접전과 압승의 반복)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6509" y="1470468"/>
            <a:ext cx="1584266" cy="405408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509" y="1470468"/>
            <a:ext cx="1584266" cy="40540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대선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2230775" y="1470468"/>
            <a:ext cx="2240877" cy="405408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30775" y="1470468"/>
            <a:ext cx="2240877" cy="40540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표차 (비율)</a:t>
            </a:r>
            <a:endParaRPr lang="en-US" sz="1090" dirty="0"/>
          </a:p>
        </p:txBody>
      </p:sp>
      <p:sp>
        <p:nvSpPr>
          <p:cNvPr id="8" name="Shape 5"/>
          <p:cNvSpPr/>
          <p:nvPr/>
        </p:nvSpPr>
        <p:spPr>
          <a:xfrm>
            <a:off x="4471653" y="1470468"/>
            <a:ext cx="4025838" cy="405408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71653" y="1470468"/>
            <a:ext cx="4025838" cy="40540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선거 성격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46509" y="1868732"/>
            <a:ext cx="1584266" cy="448270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509" y="1868732"/>
            <a:ext cx="1584266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18대 (2012)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2230775" y="1868732"/>
            <a:ext cx="2240877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108만표 (3.5%p)</a:t>
            </a:r>
            <a:endParaRPr lang="en-US" sz="1159" dirty="0"/>
          </a:p>
        </p:txBody>
      </p:sp>
      <p:sp>
        <p:nvSpPr>
          <p:cNvPr id="13" name="Text 10"/>
          <p:cNvSpPr/>
          <p:nvPr/>
        </p:nvSpPr>
        <p:spPr>
          <a:xfrm>
            <a:off x="4471653" y="1868732"/>
            <a:ext cx="4025838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보수-진보 양강 구도의 팽팽한 접전</a:t>
            </a:r>
            <a:endParaRPr lang="en-US" sz="1159" dirty="0"/>
          </a:p>
        </p:txBody>
      </p:sp>
      <p:sp>
        <p:nvSpPr>
          <p:cNvPr id="14" name="Shape 11"/>
          <p:cNvSpPr/>
          <p:nvPr/>
        </p:nvSpPr>
        <p:spPr>
          <a:xfrm>
            <a:off x="646509" y="2317003"/>
            <a:ext cx="1584266" cy="448270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509" y="2317003"/>
            <a:ext cx="1584266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19대 (2017)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2230775" y="2317003"/>
            <a:ext cx="2240877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557만표 (17.1%p)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4471653" y="2317003"/>
            <a:ext cx="4025838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탄핵 정국 속 민주당의 압도적 승리</a:t>
            </a:r>
            <a:endParaRPr lang="en-US" sz="1159" dirty="0"/>
          </a:p>
        </p:txBody>
      </p:sp>
      <p:sp>
        <p:nvSpPr>
          <p:cNvPr id="18" name="Shape 15"/>
          <p:cNvSpPr/>
          <p:nvPr/>
        </p:nvSpPr>
        <p:spPr>
          <a:xfrm>
            <a:off x="646509" y="2765273"/>
            <a:ext cx="1584266" cy="448270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6509" y="2765273"/>
            <a:ext cx="1584266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(2022)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2230775" y="2765273"/>
            <a:ext cx="2240877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25만표 (0.3%p)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4471653" y="2765273"/>
            <a:ext cx="4025838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헌정 사상 최소 표차의 초박빙 승부</a:t>
            </a:r>
            <a:endParaRPr lang="en-US" sz="1159" dirty="0"/>
          </a:p>
        </p:txBody>
      </p:sp>
      <p:sp>
        <p:nvSpPr>
          <p:cNvPr id="22" name="Shape 19"/>
          <p:cNvSpPr/>
          <p:nvPr/>
        </p:nvSpPr>
        <p:spPr>
          <a:xfrm>
            <a:off x="646509" y="3213543"/>
            <a:ext cx="1584266" cy="448270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6509" y="3213543"/>
            <a:ext cx="1584266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21대 (2025)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2223743" y="3213543"/>
            <a:ext cx="2243389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289만표 (8.2%p)</a:t>
            </a:r>
            <a:endParaRPr lang="en-US" sz="1159" dirty="0"/>
          </a:p>
        </p:txBody>
      </p:sp>
      <p:sp>
        <p:nvSpPr>
          <p:cNvPr id="25" name="Text 22"/>
          <p:cNvSpPr/>
          <p:nvPr/>
        </p:nvSpPr>
        <p:spPr>
          <a:xfrm>
            <a:off x="4467132" y="3213543"/>
            <a:ext cx="4030359" cy="44827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다시 뚜렷해진 지지층 결집과 격차 확대</a:t>
            </a:r>
            <a:endParaRPr lang="en-US" sz="1159" dirty="0"/>
          </a:p>
        </p:txBody>
      </p:sp>
      <p:sp>
        <p:nvSpPr>
          <p:cNvPr id="26" name="Text 23"/>
          <p:cNvSpPr/>
          <p:nvPr/>
        </p:nvSpPr>
        <p:spPr>
          <a:xfrm>
            <a:off x="642938" y="4094011"/>
            <a:ext cx="7858125" cy="240013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탄핵 직후(19대) 압도적 승리에서 초박빙(20대)을 거쳐 다시 격차가 확대되는 </a:t>
            </a:r>
            <a:r>
              <a:rPr lang="en-US" sz="1193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진자 운동</a:t>
            </a: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양상</a:t>
            </a:r>
            <a:endParaRPr lang="en-US" sz="1269" dirty="0"/>
          </a:p>
        </p:txBody>
      </p:sp>
      <p:sp>
        <p:nvSpPr>
          <p:cNvPr id="27" name="Text 24"/>
          <p:cNvSpPr/>
          <p:nvPr/>
        </p:nvSpPr>
        <p:spPr>
          <a:xfrm>
            <a:off x="642938" y="4441180"/>
            <a:ext cx="7858125" cy="240013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정치적 이벤트(탄핵 등)에 따른 일시적 쏠림 현상 이후 다시 양 진영의 </a:t>
            </a:r>
            <a:r>
              <a:rPr lang="en-US" sz="1193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결집력이 강화</a:t>
            </a: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되는 패턴</a:t>
            </a:r>
            <a:endParaRPr lang="en-US" sz="1269" dirty="0"/>
          </a:p>
        </p:txBody>
      </p:sp>
      <p:sp>
        <p:nvSpPr>
          <p:cNvPr id="28" name="Text 25"/>
          <p:cNvSpPr/>
          <p:nvPr/>
        </p:nvSpPr>
        <p:spPr>
          <a:xfrm>
            <a:off x="642938" y="4094011"/>
            <a:ext cx="142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2938" y="4441180"/>
            <a:ext cx="142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234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784668"/>
            <a:ext cx="7858125" cy="49649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5: 제3후보의 영향력과 표 분산 효과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642938" y="1724072"/>
            <a:ext cx="7858125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19대 대선: 역대급 다자구도 형성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928688" y="2225920"/>
            <a:ext cx="7572375" cy="27430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안철수(21.4%), 유승민(6.8%), 심상정(6.2%) 등 강력한 제3지대 후보 등장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928688" y="2571666"/>
            <a:ext cx="7572375" cy="27430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보수 진영의 표가 홍준표, 안철수, 유승민으로 분산되며 민주당 압승의 배경이 됨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928688" y="2225920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928688" y="2571666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642938" y="3388900"/>
            <a:ext cx="7858125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21대 대선: 제3후보의 캐스팅보트 역할</a:t>
            </a:r>
            <a:endParaRPr lang="en-US" sz="1602" dirty="0"/>
          </a:p>
        </p:txBody>
      </p:sp>
      <p:sp>
        <p:nvSpPr>
          <p:cNvPr id="10" name="Text 7"/>
          <p:cNvSpPr/>
          <p:nvPr/>
        </p:nvSpPr>
        <p:spPr>
          <a:xfrm>
            <a:off x="928688" y="3890749"/>
            <a:ext cx="7572375" cy="27430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이준석(8.3%) 후보의 등장으로 보수 지지층 내 세대별/성향별 표 분산 발생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928688" y="4236495"/>
            <a:ext cx="7572375" cy="27430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제3후보의 득표율이 당선자와 2위 후보 간의 격차에 결정적 변수로 작용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642938" y="5039441"/>
            <a:ext cx="7858125" cy="68401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0"/>
          <p:cNvSpPr/>
          <p:nvPr/>
        </p:nvSpPr>
        <p:spPr>
          <a:xfrm>
            <a:off x="642938" y="5039441"/>
            <a:ext cx="35719" cy="684014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4" name="Text 11"/>
          <p:cNvSpPr/>
          <p:nvPr/>
        </p:nvSpPr>
        <p:spPr>
          <a:xfrm>
            <a:off x="928688" y="3890749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928688" y="4236495"/>
            <a:ext cx="64294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857250" y="5339479"/>
            <a:ext cx="74295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i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특징: 제3후보가 강세를 보일 때 주로 보수 진영의 득표율이 하락하거나 분산되는 경향이 뚜렷하게 관찰됨</a:t>
            </a:r>
            <a:endParaRPr lang="en-US" sz="115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784668"/>
            <a:ext cx="7858125" cy="49649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6: 투표율의 지속적 상승과 정치 참여 확대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566909"/>
            <a:ext cx="7858125" cy="65722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1566909"/>
            <a:ext cx="7858125" cy="657225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75.8% → 77.2% → 77.1% → </a:t>
            </a:r>
            <a:r>
              <a:rPr lang="en-US" sz="1808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79.4%</a:t>
            </a:r>
            <a:r>
              <a:rPr lang="en-US" sz="1808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(21대 최고치)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928688" y="2509884"/>
            <a:ext cx="7572375" cy="334305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정치적 관심 고조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18대 이후 전반적인 투표율 상승 곡선을 그리며 국민적 관심 확대</a:t>
            </a:r>
            <a:endParaRPr lang="en-US" sz="1295" dirty="0"/>
          </a:p>
        </p:txBody>
      </p:sp>
      <p:sp>
        <p:nvSpPr>
          <p:cNvPr id="7" name="Text 4"/>
          <p:cNvSpPr/>
          <p:nvPr/>
        </p:nvSpPr>
        <p:spPr>
          <a:xfrm>
            <a:off x="928688" y="3022783"/>
            <a:ext cx="7572375" cy="334305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광주광역시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4회 연속 전국 </a:t>
            </a:r>
            <a:r>
              <a:rPr lang="en-US" sz="1295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 투표율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기록 — 가장 뜨거운 정치적 열기 과시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928688" y="3535682"/>
            <a:ext cx="7572375" cy="334305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제주특별자치도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4회 연속 전국 최저 투표율 기록 — 상대적으로 낮은 참여도 유지</a:t>
            </a:r>
            <a:endParaRPr lang="en-US" sz="1295" dirty="0"/>
          </a:p>
        </p:txBody>
      </p:sp>
      <p:sp>
        <p:nvSpPr>
          <p:cNvPr id="9" name="Text 6"/>
          <p:cNvSpPr/>
          <p:nvPr/>
        </p:nvSpPr>
        <p:spPr>
          <a:xfrm>
            <a:off x="928688" y="4048581"/>
            <a:ext cx="7572375" cy="334305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21대 대선 (2025)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79.4%의 투표율은 역대급 관심과 변화에 대한 열망이 반영된 결과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928688" y="2509884"/>
            <a:ext cx="232172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</a:t>
            </a:r>
            <a:endParaRPr lang="en-US" sz="1377" dirty="0"/>
          </a:p>
        </p:txBody>
      </p:sp>
      <p:sp>
        <p:nvSpPr>
          <p:cNvPr id="11" name="Text 8"/>
          <p:cNvSpPr/>
          <p:nvPr/>
        </p:nvSpPr>
        <p:spPr>
          <a:xfrm>
            <a:off x="928688" y="3022783"/>
            <a:ext cx="232172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</a:t>
            </a:r>
            <a:endParaRPr lang="en-US" sz="1377" dirty="0"/>
          </a:p>
        </p:txBody>
      </p:sp>
      <p:sp>
        <p:nvSpPr>
          <p:cNvPr id="12" name="Text 9"/>
          <p:cNvSpPr/>
          <p:nvPr/>
        </p:nvSpPr>
        <p:spPr>
          <a:xfrm>
            <a:off x="928688" y="3535682"/>
            <a:ext cx="232172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</a:t>
            </a:r>
            <a:endParaRPr lang="en-US" sz="1377" dirty="0"/>
          </a:p>
        </p:txBody>
      </p:sp>
      <p:sp>
        <p:nvSpPr>
          <p:cNvPr id="13" name="Text 10"/>
          <p:cNvSpPr/>
          <p:nvPr/>
        </p:nvSpPr>
        <p:spPr>
          <a:xfrm>
            <a:off x="928688" y="4048581"/>
            <a:ext cx="232172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</a:t>
            </a:r>
            <a:endParaRPr lang="en-US" sz="137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344" y="784668"/>
            <a:ext cx="8215313" cy="49649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권역별 득표율 변화 상세 (18대~21대)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67916" y="1499043"/>
            <a:ext cx="1132954" cy="675084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67916" y="1499043"/>
            <a:ext cx="1132954" cy="67508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1600870" y="1499043"/>
            <a:ext cx="3537496" cy="337542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00870" y="1499043"/>
            <a:ext cx="3537496" cy="33754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민주당 계열 득표율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5138365" y="1499043"/>
            <a:ext cx="3537719" cy="337542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38365" y="1499043"/>
            <a:ext cx="3537719" cy="33754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보수 진영 득표율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1600870" y="1829442"/>
            <a:ext cx="884374" cy="337542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00870" y="1829442"/>
            <a:ext cx="884374" cy="33754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18대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2485244" y="1829442"/>
            <a:ext cx="884374" cy="337542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85244" y="1829442"/>
            <a:ext cx="884374" cy="33754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19대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3369618" y="1829442"/>
            <a:ext cx="884374" cy="337542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69618" y="1829442"/>
            <a:ext cx="884374" cy="33754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4253992" y="1829442"/>
            <a:ext cx="884374" cy="337542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53992" y="1829442"/>
            <a:ext cx="884374" cy="33754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21대</a:t>
            </a:r>
            <a:endParaRPr lang="en-US" sz="885" dirty="0"/>
          </a:p>
        </p:txBody>
      </p:sp>
      <p:sp>
        <p:nvSpPr>
          <p:cNvPr id="18" name="Shape 15"/>
          <p:cNvSpPr/>
          <p:nvPr/>
        </p:nvSpPr>
        <p:spPr>
          <a:xfrm>
            <a:off x="5138365" y="1829442"/>
            <a:ext cx="884374" cy="337542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38365" y="1829442"/>
            <a:ext cx="884374" cy="33754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18대</a:t>
            </a:r>
            <a:endParaRPr lang="en-US" sz="885" dirty="0"/>
          </a:p>
        </p:txBody>
      </p:sp>
      <p:sp>
        <p:nvSpPr>
          <p:cNvPr id="20" name="Shape 17"/>
          <p:cNvSpPr/>
          <p:nvPr/>
        </p:nvSpPr>
        <p:spPr>
          <a:xfrm>
            <a:off x="6022739" y="1829442"/>
            <a:ext cx="884374" cy="337542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22739" y="1829442"/>
            <a:ext cx="884374" cy="33754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19대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6907113" y="1829442"/>
            <a:ext cx="884374" cy="337542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7113" y="1829442"/>
            <a:ext cx="884374" cy="33754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</a:t>
            </a:r>
            <a:endParaRPr lang="en-US" sz="885" dirty="0"/>
          </a:p>
        </p:txBody>
      </p:sp>
      <p:sp>
        <p:nvSpPr>
          <p:cNvPr id="24" name="Shape 21"/>
          <p:cNvSpPr/>
          <p:nvPr/>
        </p:nvSpPr>
        <p:spPr>
          <a:xfrm>
            <a:off x="7791487" y="1829442"/>
            <a:ext cx="884597" cy="337542"/>
          </a:xfrm>
          <a:prstGeom prst="rect">
            <a:avLst/>
          </a:prstGeom>
          <a:solidFill>
            <a:srgbClr val="1A237E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91487" y="1829442"/>
            <a:ext cx="884597" cy="33754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21대</a:t>
            </a: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467916" y="2159840"/>
            <a:ext cx="1132954" cy="366117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7916" y="2159840"/>
            <a:ext cx="113295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수도권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1600870" y="2159840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49.4%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2485244" y="2159840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41.7%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3369618" y="2159840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48.1%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4253992" y="2159840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49.9%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5138365" y="2159840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49.9%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6022739" y="2159840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20.7%</a:t>
            </a:r>
            <a:endParaRPr lang="en-US" sz="942" dirty="0"/>
          </a:p>
        </p:txBody>
      </p:sp>
      <p:sp>
        <p:nvSpPr>
          <p:cNvPr id="34" name="Text 31"/>
          <p:cNvSpPr/>
          <p:nvPr/>
        </p:nvSpPr>
        <p:spPr>
          <a:xfrm>
            <a:off x="6907113" y="2159840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47.3%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7791487" y="2159840"/>
            <a:ext cx="884597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39.1%</a:t>
            </a:r>
            <a:endParaRPr lang="en-US" sz="942" dirty="0"/>
          </a:p>
        </p:txBody>
      </p:sp>
      <p:sp>
        <p:nvSpPr>
          <p:cNvPr id="36" name="Shape 33"/>
          <p:cNvSpPr/>
          <p:nvPr/>
        </p:nvSpPr>
        <p:spPr>
          <a:xfrm>
            <a:off x="467916" y="2525957"/>
            <a:ext cx="1132954" cy="366117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7916" y="2525957"/>
            <a:ext cx="113295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충청권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1600870" y="2525957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45.7%</a:t>
            </a:r>
            <a:endParaRPr lang="en-US" sz="942" dirty="0"/>
          </a:p>
        </p:txBody>
      </p:sp>
      <p:sp>
        <p:nvSpPr>
          <p:cNvPr id="39" name="Text 36"/>
          <p:cNvSpPr/>
          <p:nvPr/>
        </p:nvSpPr>
        <p:spPr>
          <a:xfrm>
            <a:off x="2485244" y="2525957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42.6%</a:t>
            </a:r>
            <a:endParaRPr lang="en-US" sz="942" dirty="0"/>
          </a:p>
        </p:txBody>
      </p:sp>
      <p:sp>
        <p:nvSpPr>
          <p:cNvPr id="40" name="Text 37"/>
          <p:cNvSpPr/>
          <p:nvPr/>
        </p:nvSpPr>
        <p:spPr>
          <a:xfrm>
            <a:off x="3369618" y="2525957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46.7%</a:t>
            </a:r>
            <a:endParaRPr lang="en-US" sz="942" dirty="0"/>
          </a:p>
        </p:txBody>
      </p:sp>
      <p:sp>
        <p:nvSpPr>
          <p:cNvPr id="41" name="Text 38"/>
          <p:cNvSpPr/>
          <p:nvPr/>
        </p:nvSpPr>
        <p:spPr>
          <a:xfrm>
            <a:off x="4253992" y="2525957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48.0%</a:t>
            </a:r>
            <a:endParaRPr lang="en-US" sz="942" dirty="0"/>
          </a:p>
        </p:txBody>
      </p:sp>
      <p:sp>
        <p:nvSpPr>
          <p:cNvPr id="42" name="Text 39"/>
          <p:cNvSpPr/>
          <p:nvPr/>
        </p:nvSpPr>
        <p:spPr>
          <a:xfrm>
            <a:off x="5138365" y="2525957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53.5%</a:t>
            </a:r>
            <a:endParaRPr lang="en-US" sz="942" dirty="0"/>
          </a:p>
        </p:txBody>
      </p:sp>
      <p:sp>
        <p:nvSpPr>
          <p:cNvPr id="43" name="Text 40"/>
          <p:cNvSpPr/>
          <p:nvPr/>
        </p:nvSpPr>
        <p:spPr>
          <a:xfrm>
            <a:off x="6022739" y="2525957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21.6%</a:t>
            </a:r>
            <a:endParaRPr lang="en-US" sz="942" dirty="0"/>
          </a:p>
        </p:txBody>
      </p:sp>
      <p:sp>
        <p:nvSpPr>
          <p:cNvPr id="44" name="Text 41"/>
          <p:cNvSpPr/>
          <p:nvPr/>
        </p:nvSpPr>
        <p:spPr>
          <a:xfrm>
            <a:off x="6907113" y="2525957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48.4%</a:t>
            </a:r>
            <a:endParaRPr lang="en-US" sz="942" dirty="0"/>
          </a:p>
        </p:txBody>
      </p:sp>
      <p:sp>
        <p:nvSpPr>
          <p:cNvPr id="45" name="Text 42"/>
          <p:cNvSpPr/>
          <p:nvPr/>
        </p:nvSpPr>
        <p:spPr>
          <a:xfrm>
            <a:off x="7791487" y="2525957"/>
            <a:ext cx="884597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41.5%</a:t>
            </a:r>
            <a:endParaRPr lang="en-US" sz="942" dirty="0"/>
          </a:p>
        </p:txBody>
      </p:sp>
      <p:sp>
        <p:nvSpPr>
          <p:cNvPr id="46" name="Shape 43"/>
          <p:cNvSpPr/>
          <p:nvPr/>
        </p:nvSpPr>
        <p:spPr>
          <a:xfrm>
            <a:off x="467916" y="2892075"/>
            <a:ext cx="1132954" cy="366117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67916" y="2892075"/>
            <a:ext cx="113295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호남권</a:t>
            </a:r>
            <a:endParaRPr lang="en-US" sz="885" dirty="0"/>
          </a:p>
        </p:txBody>
      </p:sp>
      <p:sp>
        <p:nvSpPr>
          <p:cNvPr id="48" name="Text 45"/>
          <p:cNvSpPr/>
          <p:nvPr/>
        </p:nvSpPr>
        <p:spPr>
          <a:xfrm>
            <a:off x="1600870" y="2892075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88.7%</a:t>
            </a:r>
            <a:endParaRPr lang="en-US" sz="942" dirty="0"/>
          </a:p>
        </p:txBody>
      </p:sp>
      <p:sp>
        <p:nvSpPr>
          <p:cNvPr id="49" name="Text 46"/>
          <p:cNvSpPr/>
          <p:nvPr/>
        </p:nvSpPr>
        <p:spPr>
          <a:xfrm>
            <a:off x="2485244" y="2892075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61.7%</a:t>
            </a:r>
            <a:endParaRPr lang="en-US" sz="942" dirty="0"/>
          </a:p>
        </p:txBody>
      </p:sp>
      <p:sp>
        <p:nvSpPr>
          <p:cNvPr id="50" name="Text 47"/>
          <p:cNvSpPr/>
          <p:nvPr/>
        </p:nvSpPr>
        <p:spPr>
          <a:xfrm>
            <a:off x="3369618" y="2892075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84.0%</a:t>
            </a:r>
            <a:endParaRPr lang="en-US" sz="942" dirty="0"/>
          </a:p>
        </p:txBody>
      </p:sp>
      <p:sp>
        <p:nvSpPr>
          <p:cNvPr id="51" name="Text 48"/>
          <p:cNvSpPr/>
          <p:nvPr/>
        </p:nvSpPr>
        <p:spPr>
          <a:xfrm>
            <a:off x="4253992" y="2892075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83.9%</a:t>
            </a:r>
            <a:endParaRPr lang="en-US" sz="942" dirty="0"/>
          </a:p>
        </p:txBody>
      </p:sp>
      <p:sp>
        <p:nvSpPr>
          <p:cNvPr id="52" name="Text 49"/>
          <p:cNvSpPr/>
          <p:nvPr/>
        </p:nvSpPr>
        <p:spPr>
          <a:xfrm>
            <a:off x="5138365" y="2892075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10.3%</a:t>
            </a:r>
            <a:endParaRPr lang="en-US" sz="942" dirty="0"/>
          </a:p>
        </p:txBody>
      </p:sp>
      <p:sp>
        <p:nvSpPr>
          <p:cNvPr id="53" name="Text 50"/>
          <p:cNvSpPr/>
          <p:nvPr/>
        </p:nvSpPr>
        <p:spPr>
          <a:xfrm>
            <a:off x="6022739" y="2892075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2.4%</a:t>
            </a:r>
            <a:endParaRPr lang="en-US" sz="942" dirty="0"/>
          </a:p>
        </p:txBody>
      </p:sp>
      <p:sp>
        <p:nvSpPr>
          <p:cNvPr id="54" name="Text 51"/>
          <p:cNvSpPr/>
          <p:nvPr/>
        </p:nvSpPr>
        <p:spPr>
          <a:xfrm>
            <a:off x="6907113" y="2892075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12.8%</a:t>
            </a:r>
            <a:endParaRPr lang="en-US" sz="942" dirty="0"/>
          </a:p>
        </p:txBody>
      </p:sp>
      <p:sp>
        <p:nvSpPr>
          <p:cNvPr id="55" name="Text 52"/>
          <p:cNvSpPr/>
          <p:nvPr/>
        </p:nvSpPr>
        <p:spPr>
          <a:xfrm>
            <a:off x="7791487" y="2892075"/>
            <a:ext cx="884597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9.2%</a:t>
            </a:r>
            <a:endParaRPr lang="en-US" sz="942" dirty="0"/>
          </a:p>
        </p:txBody>
      </p:sp>
      <p:sp>
        <p:nvSpPr>
          <p:cNvPr id="56" name="Shape 53"/>
          <p:cNvSpPr/>
          <p:nvPr/>
        </p:nvSpPr>
        <p:spPr>
          <a:xfrm>
            <a:off x="467916" y="3258192"/>
            <a:ext cx="1132954" cy="366117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67916" y="3258192"/>
            <a:ext cx="113295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영남권</a:t>
            </a:r>
            <a:endParaRPr lang="en-US" sz="885" dirty="0"/>
          </a:p>
        </p:txBody>
      </p:sp>
      <p:sp>
        <p:nvSpPr>
          <p:cNvPr id="58" name="Text 55"/>
          <p:cNvSpPr/>
          <p:nvPr/>
        </p:nvSpPr>
        <p:spPr>
          <a:xfrm>
            <a:off x="1600870" y="3258192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30.7%</a:t>
            </a:r>
            <a:endParaRPr lang="en-US" sz="942" dirty="0"/>
          </a:p>
        </p:txBody>
      </p:sp>
      <p:sp>
        <p:nvSpPr>
          <p:cNvPr id="59" name="Text 56"/>
          <p:cNvSpPr/>
          <p:nvPr/>
        </p:nvSpPr>
        <p:spPr>
          <a:xfrm>
            <a:off x="2485244" y="3258192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31.3%</a:t>
            </a:r>
            <a:endParaRPr lang="en-US" sz="942" dirty="0"/>
          </a:p>
        </p:txBody>
      </p:sp>
      <p:sp>
        <p:nvSpPr>
          <p:cNvPr id="60" name="Text 57"/>
          <p:cNvSpPr/>
          <p:nvPr/>
        </p:nvSpPr>
        <p:spPr>
          <a:xfrm>
            <a:off x="3369618" y="3258192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32.0%</a:t>
            </a:r>
            <a:endParaRPr lang="en-US" sz="942" dirty="0"/>
          </a:p>
        </p:txBody>
      </p:sp>
      <p:sp>
        <p:nvSpPr>
          <p:cNvPr id="61" name="Text 58"/>
          <p:cNvSpPr/>
          <p:nvPr/>
        </p:nvSpPr>
        <p:spPr>
          <a:xfrm>
            <a:off x="4253992" y="3258192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33.7%</a:t>
            </a:r>
            <a:endParaRPr lang="en-US" sz="942" dirty="0"/>
          </a:p>
        </p:txBody>
      </p:sp>
      <p:sp>
        <p:nvSpPr>
          <p:cNvPr id="62" name="Text 59"/>
          <p:cNvSpPr/>
          <p:nvPr/>
        </p:nvSpPr>
        <p:spPr>
          <a:xfrm>
            <a:off x="5138365" y="3258192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68.5%</a:t>
            </a:r>
            <a:endParaRPr lang="en-US" sz="942" dirty="0"/>
          </a:p>
        </p:txBody>
      </p:sp>
      <p:sp>
        <p:nvSpPr>
          <p:cNvPr id="63" name="Text 60"/>
          <p:cNvSpPr/>
          <p:nvPr/>
        </p:nvSpPr>
        <p:spPr>
          <a:xfrm>
            <a:off x="6022739" y="3258192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37.9%</a:t>
            </a:r>
            <a:endParaRPr lang="en-US" sz="942" dirty="0"/>
          </a:p>
        </p:txBody>
      </p:sp>
      <p:sp>
        <p:nvSpPr>
          <p:cNvPr id="64" name="Text 61"/>
          <p:cNvSpPr/>
          <p:nvPr/>
        </p:nvSpPr>
        <p:spPr>
          <a:xfrm>
            <a:off x="6907113" y="3258192"/>
            <a:ext cx="88437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63.2%</a:t>
            </a:r>
            <a:endParaRPr lang="en-US" sz="942" dirty="0"/>
          </a:p>
        </p:txBody>
      </p:sp>
      <p:sp>
        <p:nvSpPr>
          <p:cNvPr id="65" name="Text 62"/>
          <p:cNvSpPr/>
          <p:nvPr/>
        </p:nvSpPr>
        <p:spPr>
          <a:xfrm>
            <a:off x="7791487" y="3258192"/>
            <a:ext cx="884597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57.1%</a:t>
            </a:r>
            <a:endParaRPr lang="en-US" sz="942" dirty="0"/>
          </a:p>
        </p:txBody>
      </p:sp>
      <p:sp>
        <p:nvSpPr>
          <p:cNvPr id="66" name="Shape 63"/>
          <p:cNvSpPr/>
          <p:nvPr/>
        </p:nvSpPr>
        <p:spPr>
          <a:xfrm>
            <a:off x="467916" y="3624309"/>
            <a:ext cx="1132954" cy="366117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67916" y="3624309"/>
            <a:ext cx="113295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강원/제주</a:t>
            </a:r>
            <a:endParaRPr lang="en-US" sz="885" dirty="0"/>
          </a:p>
        </p:txBody>
      </p:sp>
      <p:sp>
        <p:nvSpPr>
          <p:cNvPr id="68" name="Text 65"/>
          <p:cNvSpPr/>
          <p:nvPr/>
        </p:nvSpPr>
        <p:spPr>
          <a:xfrm>
            <a:off x="1592805" y="3624309"/>
            <a:ext cx="885406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43.0%</a:t>
            </a:r>
            <a:endParaRPr lang="en-US" sz="942" dirty="0"/>
          </a:p>
        </p:txBody>
      </p:sp>
      <p:sp>
        <p:nvSpPr>
          <p:cNvPr id="69" name="Text 66"/>
          <p:cNvSpPr/>
          <p:nvPr/>
        </p:nvSpPr>
        <p:spPr>
          <a:xfrm>
            <a:off x="2478212" y="3624309"/>
            <a:ext cx="885406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39.6%</a:t>
            </a:r>
            <a:endParaRPr lang="en-US" sz="942" dirty="0"/>
          </a:p>
        </p:txBody>
      </p:sp>
      <p:sp>
        <p:nvSpPr>
          <p:cNvPr id="70" name="Text 67"/>
          <p:cNvSpPr/>
          <p:nvPr/>
        </p:nvSpPr>
        <p:spPr>
          <a:xfrm>
            <a:off x="3363618" y="3624309"/>
            <a:ext cx="885406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46.7%</a:t>
            </a:r>
            <a:endParaRPr lang="en-US" sz="942" dirty="0"/>
          </a:p>
        </p:txBody>
      </p:sp>
      <p:sp>
        <p:nvSpPr>
          <p:cNvPr id="71" name="Text 68"/>
          <p:cNvSpPr/>
          <p:nvPr/>
        </p:nvSpPr>
        <p:spPr>
          <a:xfrm>
            <a:off x="4249024" y="3624309"/>
            <a:ext cx="885406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46.7%</a:t>
            </a:r>
            <a:endParaRPr lang="en-US" sz="942" dirty="0"/>
          </a:p>
        </p:txBody>
      </p:sp>
      <p:sp>
        <p:nvSpPr>
          <p:cNvPr id="72" name="Text 69"/>
          <p:cNvSpPr/>
          <p:nvPr/>
        </p:nvSpPr>
        <p:spPr>
          <a:xfrm>
            <a:off x="5134431" y="3624309"/>
            <a:ext cx="885406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56.0%</a:t>
            </a:r>
            <a:endParaRPr lang="en-US" sz="942" dirty="0"/>
          </a:p>
        </p:txBody>
      </p:sp>
      <p:sp>
        <p:nvSpPr>
          <p:cNvPr id="73" name="Text 70"/>
          <p:cNvSpPr/>
          <p:nvPr/>
        </p:nvSpPr>
        <p:spPr>
          <a:xfrm>
            <a:off x="6019837" y="3624309"/>
            <a:ext cx="885406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24.0%</a:t>
            </a:r>
            <a:endParaRPr lang="en-US" sz="942" dirty="0"/>
          </a:p>
        </p:txBody>
      </p:sp>
      <p:sp>
        <p:nvSpPr>
          <p:cNvPr id="74" name="Text 71"/>
          <p:cNvSpPr/>
          <p:nvPr/>
        </p:nvSpPr>
        <p:spPr>
          <a:xfrm>
            <a:off x="6905244" y="3624309"/>
            <a:ext cx="885406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47.9%</a:t>
            </a:r>
            <a:endParaRPr lang="en-US" sz="942" dirty="0"/>
          </a:p>
        </p:txBody>
      </p:sp>
      <p:sp>
        <p:nvSpPr>
          <p:cNvPr id="75" name="Text 72"/>
          <p:cNvSpPr/>
          <p:nvPr/>
        </p:nvSpPr>
        <p:spPr>
          <a:xfrm>
            <a:off x="7790650" y="3624309"/>
            <a:ext cx="885434" cy="36611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43.3%</a:t>
            </a:r>
            <a:endParaRPr lang="en-US" sz="942" dirty="0"/>
          </a:p>
        </p:txBody>
      </p:sp>
      <p:sp>
        <p:nvSpPr>
          <p:cNvPr id="76" name="Text 73"/>
          <p:cNvSpPr/>
          <p:nvPr/>
        </p:nvSpPr>
        <p:spPr>
          <a:xfrm>
            <a:off x="464344" y="4136873"/>
            <a:ext cx="821531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19대 대선은 다자구도(안철수, 유승민 등) 영향으로 양당 득표율 합계가 낮음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784668"/>
            <a:ext cx="7858125" cy="49649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237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시사점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928688" y="1566909"/>
            <a:ext cx="7572375" cy="334305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정치 지형의 변화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영남권의 보수세 약화와 수도권의 </a:t>
            </a:r>
            <a:r>
              <a:rPr lang="en-US" sz="1295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캐스팅보트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역할이 더욱 뚜렷해짐</a:t>
            </a:r>
            <a:endParaRPr lang="en-US" sz="1295" dirty="0"/>
          </a:p>
        </p:txBody>
      </p:sp>
      <p:sp>
        <p:nvSpPr>
          <p:cNvPr id="5" name="Text 2"/>
          <p:cNvSpPr/>
          <p:nvPr/>
        </p:nvSpPr>
        <p:spPr>
          <a:xfrm>
            <a:off x="928688" y="2115527"/>
            <a:ext cx="7572375" cy="668610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투표율의 의미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21대 대선의 79.4% 투표율은 국민들의 높은 정치적 관심과 변화에 대한 열망 반영</a:t>
            </a:r>
            <a:endParaRPr lang="en-US" sz="1295" dirty="0"/>
          </a:p>
        </p:txBody>
      </p:sp>
      <p:sp>
        <p:nvSpPr>
          <p:cNvPr id="6" name="Text 3"/>
          <p:cNvSpPr/>
          <p:nvPr/>
        </p:nvSpPr>
        <p:spPr>
          <a:xfrm>
            <a:off x="928688" y="2998450"/>
            <a:ext cx="7572375" cy="334305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제3후보의 영향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제3후보의 등장은 단순한 표 분산을 넘어 선거의 </a:t>
            </a:r>
            <a:r>
              <a:rPr lang="en-US" sz="1295" b="1" dirty="0">
                <a:solidFill>
                  <a:srgbClr val="0D47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결정적 변수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작용</a:t>
            </a:r>
            <a:endParaRPr lang="en-US" sz="1295" dirty="0"/>
          </a:p>
        </p:txBody>
      </p:sp>
      <p:sp>
        <p:nvSpPr>
          <p:cNvPr id="7" name="Text 4"/>
          <p:cNvSpPr/>
          <p:nvPr/>
        </p:nvSpPr>
        <p:spPr>
          <a:xfrm>
            <a:off x="928688" y="3547067"/>
            <a:ext cx="7572375" cy="668610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29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과제</a:t>
            </a: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지역주의 구도는 여전히 견고하나, 스윙 보터 지역의 확대로 다변화된 선거 전략 필요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928688" y="1566909"/>
            <a:ext cx="232172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</a:t>
            </a:r>
            <a:endParaRPr lang="en-US" sz="1377" dirty="0"/>
          </a:p>
        </p:txBody>
      </p:sp>
      <p:sp>
        <p:nvSpPr>
          <p:cNvPr id="9" name="Text 6"/>
          <p:cNvSpPr/>
          <p:nvPr/>
        </p:nvSpPr>
        <p:spPr>
          <a:xfrm>
            <a:off x="928688" y="2115527"/>
            <a:ext cx="232172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</a:t>
            </a:r>
            <a:endParaRPr lang="en-US" sz="1377" dirty="0"/>
          </a:p>
        </p:txBody>
      </p:sp>
      <p:sp>
        <p:nvSpPr>
          <p:cNvPr id="10" name="Text 7"/>
          <p:cNvSpPr/>
          <p:nvPr/>
        </p:nvSpPr>
        <p:spPr>
          <a:xfrm>
            <a:off x="928688" y="2998450"/>
            <a:ext cx="232172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</a:t>
            </a:r>
            <a:endParaRPr lang="en-US" sz="1377" dirty="0"/>
          </a:p>
        </p:txBody>
      </p:sp>
      <p:sp>
        <p:nvSpPr>
          <p:cNvPr id="11" name="Text 8"/>
          <p:cNvSpPr/>
          <p:nvPr/>
        </p:nvSpPr>
        <p:spPr>
          <a:xfrm>
            <a:off x="928688" y="3547067"/>
            <a:ext cx="232172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377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</a:t>
            </a:r>
            <a:endParaRPr lang="en-US" sz="137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2026-04-14T15:54:36Z</dcterms:created>
  <dcterms:modified xsi:type="dcterms:W3CDTF">2026-04-14T15:54:36Z</dcterms:modified>
</cp:coreProperties>
</file>