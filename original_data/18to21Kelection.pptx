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1" r:id="rId4"/>
    <p:sldId id="266" r:id="rId5"/>
    <p:sldId id="267" r:id="rId6"/>
    <p:sldId id="262" r:id="rId7"/>
    <p:sldId id="268" r:id="rId8"/>
    <p:sldId id="26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0" d="100"/>
          <a:sy n="80" d="100"/>
        </p:scale>
        <p:origin x="72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F4AB-BD75-05D4-CECC-425F7A2C2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5B6E4-0CA2-4507-8EFD-0189A6C82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170BC-4321-D0C7-DA7C-86DB89291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9F219-3BB7-6E6E-161B-B51185BDA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663A0-54C4-8CC9-038B-FDF23E61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05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5BC7-DC4F-E16D-5C73-00315706A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CA3B0-58AD-1374-9931-5A780F395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E443F-7240-C4AC-A77B-5E5FEF4D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99758-7E91-3AE9-DD68-9640A7E9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5E845-0568-F58B-116B-7AAC4660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463C-BC94-B77F-E890-86508E4A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DDD85-1944-359B-C533-F4FEE5CD0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E3E53-6C3C-D819-EEEC-5589F702C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31D5-90C7-66FD-0DD5-ACE27B43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EE96-32EB-1765-9220-3E1EF709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9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10ADA-4675-4784-60FD-EBB327FA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966A-AF9A-112D-6F43-A0BA079D0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66A35-FDDB-1142-A229-EFB864CC7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A0529-3103-9531-2B46-0A32610E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1F9B-5905-6A16-B58C-3B587480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D8742-8FAC-2C70-4B2A-97E51F3D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1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7101-C12B-BD56-A713-BD67BB81A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AC1B9-843D-2F73-1552-EF90AF69E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2F890-6112-61E3-B191-6F52E334F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9B1D1-CD14-F6BA-F4CC-E88B0B001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021C4-2229-F56F-DF0D-956BA448F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B7693-BEAD-F37A-4791-45E42E36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1AE8C-929C-6580-4655-408D7F8A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9858BF-795A-2814-90A2-B4D3E3DD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83C44-E320-489D-4A82-8849F18D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A0F4F3-74B3-69A3-7030-C3F77686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F54B7-6453-E293-B0E4-1D2297DC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0F4D1E-B7B3-62FC-F8FF-200692E7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8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AA955B-F46E-AAF3-A439-9B9EDD8AA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ECD2C-DC83-BE72-86EF-13F86C9E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D1EE3-8D31-BBBE-1FF4-7746CC9E7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74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D8B5-5147-5B6A-0F5E-2F3AD68A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75AD-594E-A3AC-43BE-F36C3C600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685E2-DE69-4418-5153-A09D7170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055D7-8C5E-6476-5486-1298FAA5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7DDE-E39B-59EA-D43F-8A057D10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C7163-CC81-3EB6-AA67-4DFCD088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4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B28F-11B3-095A-4A3E-DAFD39C20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07557-E135-4415-A19F-349548F92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609FD-F9D1-F1E3-EE36-3D9FA4989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7BAD6-F6D2-FDF4-E6E3-B1A62A35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3524C-1027-D0D1-1F5E-B12FE0E5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B6EC-633A-9917-E00E-F91E1CD3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4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324DE-9615-6D33-F5DC-952C066A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3D24C-515C-4044-4558-E1C78FFC2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6FD2B-9C6E-06A0-33C6-DA52AFB1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F4599-9342-0829-B128-63087109C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19A5F-E994-60F4-B007-73D9A1DB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84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D0990-F7B2-B46E-610B-A88EF29EC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DD769-0903-B5E5-A59F-E973F9BD1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5C23E-67FD-E8C8-9328-99B98BFF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89179-BB3F-724E-F3D8-74F77347D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C06F-258A-B5EF-D329-166D56D5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4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100000">
              <a:srgbClr val="15223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4E8392-EBAE-395B-65F9-DCB74CC4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62B1B-84FF-F553-744B-BFA983EF7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B9D6-2344-B8F3-0F19-1D791800E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4D52E-6F2E-417A-9BAC-48663054A4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3EBD3-4948-94A4-E998-F00E9D744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B578E-ED3F-DAE4-6E5C-6EACC3330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258EA9-F601-41B9-81D6-CB034916886E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BottomAccent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3498DB"/>
              </a:gs>
              <a:gs pos="50000">
                <a:srgbClr val="1ABC9C"/>
              </a:gs>
              <a:gs pos="100000">
                <a:srgbClr val="E74C3C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02" name="SlideNumber"/>
          <p:cNvSpPr>
            <a:spLocks noGrp="1"/>
          </p:cNvSpPr>
          <p:nvPr userDrawn="1">
            <p:ph type="sldNum" sz="quarter" idx="12"/>
          </p:nvPr>
        </p:nvSpPr>
        <p:spPr>
          <a:xfrm>
            <a:off x="11100000" y="6400000"/>
            <a:ext cx="900000" cy="300000"/>
          </a:xfrm>
        </p:spPr>
        <p:txBody>
          <a:bodyPr anchor="ctr"/>
          <a:lstStyle/>
          <a:p>
            <a:pPr algn="r"/>
            <a:fld id="{B6F15528-F159-4107-BFE4-4C504B3F291E}" type="slidenum">
              <a:rPr lang="ko-KR" sz="1000">
                <a:solidFill>
                  <a:srgbClr val="8899AA"/>
                </a:solidFill>
              </a:rPr>
              <a:t>‹#›</a:t>
            </a:fld>
            <a:endParaRPr lang="ko-KR" sz="1000">
              <a:solidFill>
                <a:srgbClr val="8899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74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0D4D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0D4D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0D4D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4D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4D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4D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4D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4D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4DC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D0D4DC"/>
          </a:solidFill>
        </a:defRPr>
      </a:defPPr>
      <a:lvl1pPr marL="0" algn="l" defTabSz="914400" rtl="0" eaLnBrk="1" latinLnBrk="0" hangingPunct="1">
        <a:defRPr sz="1800" kern="1200">
          <a:solidFill>
            <a:srgbClr val="D0D4DC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0D4DC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0D4DC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0D4DC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0D4DC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D0D4DC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D0D4DC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D0D4DC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D0D4DC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EC12-9EF1-57AD-05C6-EEF5236566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600" b="1"/>
              <a:t>한국 대선 교차 분석 </a:t>
            </a:r>
            <a:r>
              <a:rPr lang="en-US" altLang="ko-KR" sz="3600" b="1"/>
              <a:t>(18</a:t>
            </a:r>
            <a:r>
              <a:rPr lang="ko-KR" altLang="en-US" sz="3600" b="1"/>
              <a:t>대</a:t>
            </a:r>
            <a:r>
              <a:rPr lang="en-US" altLang="ko-KR" sz="3600" b="1"/>
              <a:t>~21</a:t>
            </a:r>
            <a:r>
              <a:rPr lang="ko-KR" altLang="en-US" sz="3600" b="1"/>
              <a:t>대</a:t>
            </a:r>
            <a:r>
              <a:rPr lang="en-US" altLang="ko-KR" sz="3600" b="1"/>
              <a:t>)</a:t>
            </a:r>
            <a:endParaRPr lang="en-US" sz="36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87B4C-14B1-CEB1-83D8-8918944BD3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2012-2025 </a:t>
            </a:r>
            <a:r>
              <a:rPr lang="ko-KR" altLang="en-US" sz="2000"/>
              <a:t>대통령 선거 패턴 분석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60151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7170D-F7E9-4679-A4EB-CBA9AD52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/>
              <a:t>4</a:t>
            </a:r>
            <a:r>
              <a:rPr lang="ko-KR" altLang="en-US" sz="2800" b="1"/>
              <a:t>개 대선 개요</a:t>
            </a:r>
            <a:endParaRPr lang="en-US" sz="28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3EEF42-3ACA-42DF-A132-4AC5B43E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867737"/>
              </p:ext>
            </p:extLst>
          </p:nvPr>
        </p:nvGraphicFramePr>
        <p:xfrm>
          <a:off x="457200" y="1778000"/>
          <a:ext cx="112776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>
                  <a:extLst>
                    <a:ext uri="{9D8B030D-6E8A-4147-A177-3AD203B41FA5}">
                      <a16:colId xmlns:a16="http://schemas.microsoft.com/office/drawing/2014/main" val="199073089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96642818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205888473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30765343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1533137362"/>
                    </a:ext>
                  </a:extLst>
                </a:gridCol>
              </a:tblGrid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구분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18대 (2012)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19대 (2017)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20대 (2022)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21대 (2025)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498390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당선자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74C3C"/>
                          </a:solidFill>
                        </a:rPr>
                        <a:t>박근혜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498DB"/>
                          </a:solidFill>
                        </a:rPr>
                        <a:t>문재인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74C3C"/>
                          </a:solidFill>
                        </a:rPr>
                        <a:t>윤석열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498DB"/>
                          </a:solidFill>
                        </a:rPr>
                        <a:t>이재명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55574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투표율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75.8%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77.2%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77.1%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79.4%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544160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당선자 득표율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51.3%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40.9%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48.1%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49.1%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519166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2위 득표율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47.8%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23.9%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47.4%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40.8%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554495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표차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108만표 (3.5%p)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557만표 (17.0%p)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25만표 (0.7%p)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289만표 (8.2%p)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689412"/>
                  </a:ext>
                </a:extLst>
              </a:tr>
              <a:tr h="67129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시도 우세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13-4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14-3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7-10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0D4DC"/>
                          </a:solidFill>
                        </a:rPr>
                        <a:t>11-6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135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360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83226-F1F1-BBC4-E91B-25AA326D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600" b="1"/>
              <a:t>패턴 </a:t>
            </a:r>
            <a:r>
              <a:rPr lang="en-US" altLang="ko-KR" sz="2600" b="1"/>
              <a:t>1: </a:t>
            </a:r>
            <a:r>
              <a:rPr lang="ko-KR" altLang="en-US" sz="2600" b="1"/>
              <a:t>호남</a:t>
            </a:r>
            <a:r>
              <a:rPr lang="en-US" altLang="ko-KR" sz="2600" b="1"/>
              <a:t>·</a:t>
            </a:r>
            <a:r>
              <a:rPr lang="ko-KR" altLang="en-US" sz="2600" b="1"/>
              <a:t>영남 지역주의는 여전히 견고</a:t>
            </a:r>
            <a:endParaRPr lang="en-US" sz="2600" b="1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38B304-8C96-4608-A2C5-81D6E0F0529F}"/>
              </a:ext>
            </a:extLst>
          </p:cNvPr>
          <p:cNvSpPr/>
          <p:nvPr/>
        </p:nvSpPr>
        <p:spPr>
          <a:xfrm>
            <a:off x="457200" y="1778000"/>
            <a:ext cx="5486400" cy="4572000"/>
          </a:xfrm>
          <a:prstGeom prst="roundRect">
            <a:avLst/>
          </a:prstGeom>
          <a:solidFill>
            <a:srgbClr val="152238"/>
          </a:solidFill>
          <a:ln w="25400" cap="flat" cmpd="sng" algn="ctr">
            <a:solidFill>
              <a:srgbClr val="3498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F0F0F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D01D01-D5FF-46C0-86DE-471C2437058D}"/>
              </a:ext>
            </a:extLst>
          </p:cNvPr>
          <p:cNvSpPr txBox="1"/>
          <p:nvPr/>
        </p:nvSpPr>
        <p:spPr>
          <a:xfrm>
            <a:off x="711200" y="1930400"/>
            <a:ext cx="4978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3498DB"/>
                </a:solidFill>
              </a:rPr>
              <a:t>호남 </a:t>
            </a:r>
            <a:r>
              <a:rPr lang="en-US" altLang="ko-KR" sz="2000" b="1">
                <a:solidFill>
                  <a:srgbClr val="3498DB"/>
                </a:solidFill>
              </a:rPr>
              <a:t>— </a:t>
            </a:r>
            <a:r>
              <a:rPr lang="ko-KR" altLang="en-US" sz="2000" b="1">
                <a:solidFill>
                  <a:srgbClr val="3498DB"/>
                </a:solidFill>
              </a:rPr>
              <a:t>진보 텃밭</a:t>
            </a:r>
            <a:endParaRPr lang="en-US" sz="2000" b="1">
              <a:solidFill>
                <a:srgbClr val="3498D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76F36-FF20-462B-B448-EBBB436BFDD4}"/>
              </a:ext>
            </a:extLst>
          </p:cNvPr>
          <p:cNvSpPr txBox="1"/>
          <p:nvPr/>
        </p:nvSpPr>
        <p:spPr>
          <a:xfrm>
            <a:off x="711200" y="2540000"/>
            <a:ext cx="4978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400" dirty="0">
                <a:solidFill>
                  <a:srgbClr val="D0D4DC"/>
                </a:solidFill>
              </a:rPr>
              <a:t>진보 득표율: </a:t>
            </a:r>
            <a:r>
              <a:rPr lang="en-US" sz="1400" b="1" dirty="0">
                <a:solidFill>
                  <a:srgbClr val="3498DB"/>
                </a:solidFill>
              </a:rPr>
              <a:t>88.7% → 61.7% → 84.0% → 83.9%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400" dirty="0">
                <a:solidFill>
                  <a:srgbClr val="D0D4DC"/>
                </a:solidFill>
              </a:rPr>
              <a:t>19대(2017) 안철수 효과로 일시 분산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400" dirty="0">
                <a:solidFill>
                  <a:srgbClr val="D0D4DC"/>
                </a:solidFill>
              </a:rPr>
              <a:t>나머지 3개 대선 모두 </a:t>
            </a:r>
            <a:r>
              <a:rPr lang="en-US" sz="1400" b="1" dirty="0">
                <a:solidFill>
                  <a:srgbClr val="2ECC71"/>
                </a:solidFill>
              </a:rPr>
              <a:t>80%+</a:t>
            </a:r>
            <a:r>
              <a:rPr lang="ko-KR" sz="1400" dirty="0">
                <a:solidFill>
                  <a:srgbClr val="D0D4DC"/>
                </a:solidFill>
              </a:rPr>
              <a:t> 유지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400" dirty="0">
                <a:solidFill>
                  <a:srgbClr val="D0D4DC"/>
                </a:solidFill>
              </a:rPr>
              <a:t>보수 득표율은 2.4~12.8%에 불과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C672AB-7BFD-4F33-9879-850077D2AC5A}"/>
              </a:ext>
            </a:extLst>
          </p:cNvPr>
          <p:cNvSpPr/>
          <p:nvPr/>
        </p:nvSpPr>
        <p:spPr>
          <a:xfrm>
            <a:off x="6248400" y="1778000"/>
            <a:ext cx="5486400" cy="4572000"/>
          </a:xfrm>
          <a:prstGeom prst="roundRect">
            <a:avLst/>
          </a:prstGeom>
          <a:solidFill>
            <a:srgbClr val="152238"/>
          </a:solidFill>
          <a:ln w="25400" cap="flat" cmpd="sng" algn="ctr">
            <a:solidFill>
              <a:srgbClr val="E74C3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F0F0F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9B9AB-22B3-477B-9132-F5A38F558E56}"/>
              </a:ext>
            </a:extLst>
          </p:cNvPr>
          <p:cNvSpPr txBox="1"/>
          <p:nvPr/>
        </p:nvSpPr>
        <p:spPr>
          <a:xfrm>
            <a:off x="6502400" y="1930400"/>
            <a:ext cx="4978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E74C3C"/>
                </a:solidFill>
              </a:rPr>
              <a:t>영남 </a:t>
            </a:r>
            <a:r>
              <a:rPr lang="en-US" altLang="ko-KR" sz="2000" b="1">
                <a:solidFill>
                  <a:srgbClr val="E74C3C"/>
                </a:solidFill>
              </a:rPr>
              <a:t>— </a:t>
            </a:r>
            <a:r>
              <a:rPr lang="ko-KR" altLang="en-US" sz="2000" b="1">
                <a:solidFill>
                  <a:srgbClr val="E74C3C"/>
                </a:solidFill>
              </a:rPr>
              <a:t>보수 텃밭 </a:t>
            </a:r>
            <a:r>
              <a:rPr lang="en-US" altLang="ko-KR" sz="2000" b="1">
                <a:solidFill>
                  <a:srgbClr val="E74C3C"/>
                </a:solidFill>
              </a:rPr>
              <a:t>(</a:t>
            </a:r>
            <a:r>
              <a:rPr lang="ko-KR" altLang="en-US" sz="2000" b="1">
                <a:solidFill>
                  <a:srgbClr val="E74C3C"/>
                </a:solidFill>
              </a:rPr>
              <a:t>약화 추세</a:t>
            </a:r>
            <a:r>
              <a:rPr lang="en-US" altLang="ko-KR" sz="2000" b="1">
                <a:solidFill>
                  <a:srgbClr val="E74C3C"/>
                </a:solidFill>
              </a:rPr>
              <a:t>)</a:t>
            </a:r>
            <a:endParaRPr lang="en-US" sz="2000" b="1">
              <a:solidFill>
                <a:srgbClr val="E74C3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BCF93-F820-44CB-9184-D8D52A740814}"/>
              </a:ext>
            </a:extLst>
          </p:cNvPr>
          <p:cNvSpPr txBox="1"/>
          <p:nvPr/>
        </p:nvSpPr>
        <p:spPr>
          <a:xfrm>
            <a:off x="6502400" y="2540000"/>
            <a:ext cx="4978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400" dirty="0">
                <a:solidFill>
                  <a:srgbClr val="D0D4DC"/>
                </a:solidFill>
              </a:rPr>
              <a:t>보수 득표율: </a:t>
            </a:r>
            <a:r>
              <a:rPr lang="en-US" sz="1400" b="1" dirty="0">
                <a:solidFill>
                  <a:srgbClr val="E74C3C"/>
                </a:solidFill>
              </a:rPr>
              <a:t>68.5% → 37.9% → 63.2% → 57.1%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400" dirty="0">
                <a:solidFill>
                  <a:srgbClr val="D0D4DC"/>
                </a:solidFill>
              </a:rPr>
              <a:t>19대 탄핵 후 대거 이탈, 이후 회복 중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400" dirty="0">
                <a:solidFill>
                  <a:srgbClr val="F39C12"/>
                </a:solidFill>
              </a:rPr>
              <a:t>그러나 과거 수준(68%) 미회복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400" dirty="0">
                <a:solidFill>
                  <a:srgbClr val="D0D4DC"/>
                </a:solidFill>
              </a:rPr>
              <a:t>21대에서 이준석이 영남 보수표 일부 흡수</a:t>
            </a:r>
          </a:p>
        </p:txBody>
      </p:sp>
    </p:spTree>
    <p:extLst>
      <p:ext uri="{BB962C8B-B14F-4D97-AF65-F5344CB8AC3E}">
        <p14:creationId xmlns:p14="http://schemas.microsoft.com/office/powerpoint/2010/main" val="2003352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BBB57-FC31-025F-120B-6DE41276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600" b="1"/>
              <a:t>패턴 </a:t>
            </a:r>
            <a:r>
              <a:rPr lang="en-US" altLang="ko-KR" sz="2600" b="1"/>
              <a:t>2: </a:t>
            </a:r>
            <a:r>
              <a:rPr lang="ko-KR" altLang="en-US" sz="2600" b="1"/>
              <a:t>대전</a:t>
            </a:r>
            <a:r>
              <a:rPr lang="en-US" altLang="ko-KR" sz="2600" b="1"/>
              <a:t>·</a:t>
            </a:r>
            <a:r>
              <a:rPr lang="ko-KR" altLang="en-US" sz="2600" b="1"/>
              <a:t>충청이 최대 스윙 지역</a:t>
            </a:r>
            <a:endParaRPr lang="en-US" sz="2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1FF1E-5FBF-448A-FEE1-3C196AB54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ts val="24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대전·충북·충남: 4번 선거에서 3번 우세 후보 교체 — 전국 최다 변동</a:t>
            </a:r>
          </a:p>
          <a:p>
            <a:pPr marL="457200" indent="-457200">
              <a:lnSpc>
                <a:spcPts val="24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18대 </a:t>
            </a:r>
            <a:r>
              <a:rPr lang="ko-KR" sz="1600" dirty="0">
                <a:solidFill>
                  <a:srgbClr val="E74C3C"/>
                </a:solidFill>
              </a:rPr>
              <a:t>박근혜</a:t>
            </a:r>
            <a:r>
              <a:rPr lang="ko-KR" sz="1600" dirty="0">
                <a:solidFill>
                  <a:srgbClr val="D0D4DC"/>
                </a:solidFill>
              </a:rPr>
              <a:t> → 19대 </a:t>
            </a:r>
            <a:r>
              <a:rPr lang="ko-KR" sz="1600" dirty="0">
                <a:solidFill>
                  <a:srgbClr val="3498DB"/>
                </a:solidFill>
              </a:rPr>
              <a:t>문재인</a:t>
            </a:r>
            <a:r>
              <a:rPr lang="ko-KR" sz="1600" dirty="0">
                <a:solidFill>
                  <a:srgbClr val="D0D4DC"/>
                </a:solidFill>
              </a:rPr>
              <a:t> → 20대 </a:t>
            </a:r>
            <a:r>
              <a:rPr lang="ko-KR" sz="1600" dirty="0">
                <a:solidFill>
                  <a:srgbClr val="E74C3C"/>
                </a:solidFill>
              </a:rPr>
              <a:t>윤석열</a:t>
            </a:r>
            <a:r>
              <a:rPr lang="ko-KR" sz="1600" dirty="0">
                <a:solidFill>
                  <a:srgbClr val="D0D4DC"/>
                </a:solidFill>
              </a:rPr>
              <a:t> → 21대 </a:t>
            </a:r>
            <a:r>
              <a:rPr lang="ko-KR" sz="1600" dirty="0">
                <a:solidFill>
                  <a:srgbClr val="3498DB"/>
                </a:solidFill>
              </a:rPr>
              <a:t>이재명</a:t>
            </a:r>
          </a:p>
          <a:p>
            <a:pPr marL="457200" indent="-457200">
              <a:lnSpc>
                <a:spcPts val="24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충청권 보수 득표율: </a:t>
            </a:r>
            <a:r>
              <a:rPr lang="en-US" sz="1600" b="1" dirty="0">
                <a:solidFill>
                  <a:srgbClr val="F39C12"/>
                </a:solidFill>
              </a:rPr>
              <a:t>53.5% → 21.6% → 48.4% → 41.5%</a:t>
            </a:r>
            <a:r>
              <a:rPr lang="ko-KR" sz="1600" dirty="0">
                <a:solidFill>
                  <a:srgbClr val="D0D4DC"/>
                </a:solidFill>
              </a:rPr>
              <a:t>로 요동</a:t>
            </a:r>
          </a:p>
          <a:p>
            <a:pPr marL="457200" indent="-457200">
              <a:lnSpc>
                <a:spcPts val="24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특정 진영에 고착되지 않은 진정한 경합 지역</a:t>
            </a:r>
          </a:p>
          <a:p>
            <a:pPr marL="457200" indent="-457200">
              <a:lnSpc>
                <a:spcPts val="24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강원도 역시 3회 변동 (박근혜→문재인→윤석열→김문수)</a:t>
            </a:r>
          </a:p>
        </p:txBody>
      </p:sp>
    </p:spTree>
    <p:extLst>
      <p:ext uri="{BB962C8B-B14F-4D97-AF65-F5344CB8AC3E}">
        <p14:creationId xmlns:p14="http://schemas.microsoft.com/office/powerpoint/2010/main" val="124128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C5A0-1366-7447-52C3-01CD283D8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600" b="1"/>
              <a:t>패턴 </a:t>
            </a:r>
            <a:r>
              <a:rPr lang="en-US" altLang="ko-KR" sz="2600" b="1"/>
              <a:t>3: </a:t>
            </a:r>
            <a:r>
              <a:rPr lang="ko-KR" altLang="en-US" sz="2600" b="1"/>
              <a:t>수도권이 승패를 결정</a:t>
            </a:r>
            <a:endParaRPr lang="en-US" sz="2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D4D95-79DB-2AED-D170-7CA547F57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ts val="2200"/>
              </a:lnSpc>
              <a:spcBef>
                <a:spcPts val="300"/>
              </a:spcBef>
              <a:buFont typeface="Arial"/>
              <a:buChar char="▸"/>
            </a:pPr>
            <a:r>
              <a:rPr lang="ko-KR" sz="1600" dirty="0">
                <a:solidFill>
                  <a:srgbClr val="F39C12"/>
                </a:solidFill>
              </a:rPr>
              <a:t>수도권(서울·인천·경기) = 전체 유권자의 약 50%</a:t>
            </a:r>
          </a:p>
          <a:p>
            <a:pPr marL="457200" indent="-457200">
              <a:lnSpc>
                <a:spcPts val="2200"/>
              </a:lnSpc>
              <a:spcBef>
                <a:spcPts val="300"/>
              </a:spcBef>
              <a:buFont typeface="Arial"/>
              <a:buChar char="▸"/>
            </a:pPr>
            <a:r>
              <a:rPr lang="ko-KR" sz="1600" b="1" dirty="0">
                <a:solidFill>
                  <a:srgbClr val="D0D4DC"/>
                </a:solidFill>
              </a:rPr>
              <a:t>수도권을 가져간 후보가 거의 항상 당선</a:t>
            </a:r>
          </a:p>
          <a:p>
            <a:pPr marL="457200" indent="-457200">
              <a:lnSpc>
                <a:spcPts val="2200"/>
              </a:lnSpc>
              <a:spcBef>
                <a:spcPts val="300"/>
              </a:spcBef>
              <a:buFont typeface="Arial"/>
              <a:buChar char="▸"/>
            </a:pPr>
            <a:r>
              <a:rPr lang="ko-KR" sz="1500" dirty="0">
                <a:solidFill>
                  <a:srgbClr val="D0D4DC"/>
                </a:solidFill>
              </a:rPr>
              <a:t>18대: </a:t>
            </a:r>
            <a:r>
              <a:rPr lang="ko-KR" sz="1500" dirty="0">
                <a:solidFill>
                  <a:srgbClr val="E74C3C"/>
                </a:solidFill>
              </a:rPr>
              <a:t>박근혜 49.9%</a:t>
            </a:r>
            <a:r>
              <a:rPr lang="ko-KR" sz="1500" dirty="0">
                <a:solidFill>
                  <a:srgbClr val="D0D4DC"/>
                </a:solidFill>
              </a:rPr>
              <a:t> &gt; 문재인 49.4% → </a:t>
            </a:r>
            <a:r>
              <a:rPr lang="ko-KR" sz="1500" dirty="0">
                <a:solidFill>
                  <a:srgbClr val="E74C3C"/>
                </a:solidFill>
              </a:rPr>
              <a:t>박근혜 당선</a:t>
            </a:r>
          </a:p>
          <a:p>
            <a:pPr marL="457200" indent="-457200">
              <a:lnSpc>
                <a:spcPts val="2200"/>
              </a:lnSpc>
              <a:spcBef>
                <a:spcPts val="300"/>
              </a:spcBef>
              <a:buFont typeface="Arial"/>
              <a:buChar char="▸"/>
            </a:pPr>
            <a:r>
              <a:rPr lang="ko-KR" sz="1500" dirty="0">
                <a:solidFill>
                  <a:srgbClr val="D0D4DC"/>
                </a:solidFill>
              </a:rPr>
              <a:t>19대: </a:t>
            </a:r>
            <a:r>
              <a:rPr lang="ko-KR" sz="1500" dirty="0">
                <a:solidFill>
                  <a:srgbClr val="3498DB"/>
                </a:solidFill>
              </a:rPr>
              <a:t>문재인 41.7%</a:t>
            </a:r>
            <a:r>
              <a:rPr lang="ko-KR" sz="1500" dirty="0">
                <a:solidFill>
                  <a:srgbClr val="D0D4DC"/>
                </a:solidFill>
              </a:rPr>
              <a:t> &gt; 홍준표 20.7% → </a:t>
            </a:r>
            <a:r>
              <a:rPr lang="ko-KR" sz="1500" dirty="0">
                <a:solidFill>
                  <a:srgbClr val="3498DB"/>
                </a:solidFill>
              </a:rPr>
              <a:t>문재인 당선</a:t>
            </a:r>
          </a:p>
          <a:p>
            <a:pPr marL="457200" indent="-457200">
              <a:lnSpc>
                <a:spcPts val="2200"/>
              </a:lnSpc>
              <a:spcBef>
                <a:spcPts val="300"/>
              </a:spcBef>
              <a:buFont typeface="Arial"/>
              <a:buChar char="▸"/>
            </a:pPr>
            <a:r>
              <a:rPr lang="ko-KR" sz="1500" dirty="0">
                <a:solidFill>
                  <a:srgbClr val="D0D4DC"/>
                </a:solidFill>
              </a:rPr>
              <a:t>20대: </a:t>
            </a:r>
            <a:r>
              <a:rPr lang="ko-KR" sz="1500" dirty="0">
                <a:solidFill>
                  <a:srgbClr val="3498DB"/>
                </a:solidFill>
              </a:rPr>
              <a:t>이재명 48.1%</a:t>
            </a:r>
            <a:r>
              <a:rPr lang="ko-KR" sz="1500" dirty="0">
                <a:solidFill>
                  <a:srgbClr val="D0D4DC"/>
                </a:solidFill>
              </a:rPr>
              <a:t> &gt; 윤석열 47.3% — </a:t>
            </a:r>
            <a:r>
              <a:rPr lang="ko-KR" sz="1500" dirty="0">
                <a:solidFill>
                  <a:srgbClr val="F39C12"/>
                </a:solidFill>
              </a:rPr>
              <a:t>유일한 예외 (영남 대승으로 역전)</a:t>
            </a:r>
          </a:p>
          <a:p>
            <a:pPr marL="457200" indent="-457200">
              <a:lnSpc>
                <a:spcPts val="2200"/>
              </a:lnSpc>
              <a:spcBef>
                <a:spcPts val="300"/>
              </a:spcBef>
              <a:buFont typeface="Arial"/>
              <a:buChar char="▸"/>
            </a:pPr>
            <a:r>
              <a:rPr lang="ko-KR" sz="1500" dirty="0">
                <a:solidFill>
                  <a:srgbClr val="D0D4DC"/>
                </a:solidFill>
              </a:rPr>
              <a:t>21대: </a:t>
            </a:r>
            <a:r>
              <a:rPr lang="ko-KR" sz="1500" dirty="0">
                <a:solidFill>
                  <a:srgbClr val="3498DB"/>
                </a:solidFill>
              </a:rPr>
              <a:t>이재명 49.9%</a:t>
            </a:r>
            <a:r>
              <a:rPr lang="ko-KR" sz="1500" dirty="0">
                <a:solidFill>
                  <a:srgbClr val="D0D4DC"/>
                </a:solidFill>
              </a:rPr>
              <a:t> &gt; 김문수 39.1% → </a:t>
            </a:r>
            <a:r>
              <a:rPr lang="ko-KR" sz="1500" dirty="0">
                <a:solidFill>
                  <a:srgbClr val="3498DB"/>
                </a:solidFill>
              </a:rPr>
              <a:t>이재명 당선</a:t>
            </a:r>
          </a:p>
        </p:txBody>
      </p:sp>
    </p:spTree>
    <p:extLst>
      <p:ext uri="{BB962C8B-B14F-4D97-AF65-F5344CB8AC3E}">
        <p14:creationId xmlns:p14="http://schemas.microsoft.com/office/powerpoint/2010/main" val="134251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F9658-72CE-9FAF-A120-4FEED1DB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600" b="1"/>
              <a:t>패턴 </a:t>
            </a:r>
            <a:r>
              <a:rPr lang="en-US" altLang="ko-KR" sz="2600" b="1"/>
              <a:t>4: </a:t>
            </a:r>
            <a:r>
              <a:rPr lang="ko-KR" altLang="en-US" sz="2600" b="1"/>
              <a:t>표차는 극적으로 요동 </a:t>
            </a:r>
            <a:r>
              <a:rPr lang="en-US" altLang="ko-KR" sz="2600" b="1"/>
              <a:t>(</a:t>
            </a:r>
            <a:r>
              <a:rPr lang="ko-KR" altLang="en-US" sz="2600" b="1"/>
              <a:t>진자운동</a:t>
            </a:r>
            <a:r>
              <a:rPr lang="en-US" altLang="ko-KR" sz="2600" b="1"/>
              <a:t>)</a:t>
            </a:r>
            <a:endParaRPr lang="en-US" sz="26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D2BB03-A9D4-4B6C-9FCA-39BB2B465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649829"/>
              </p:ext>
            </p:extLst>
          </p:nvPr>
        </p:nvGraphicFramePr>
        <p:xfrm>
          <a:off x="1270000" y="1778000"/>
          <a:ext cx="9651999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7333">
                  <a:extLst>
                    <a:ext uri="{9D8B030D-6E8A-4147-A177-3AD203B41FA5}">
                      <a16:colId xmlns:a16="http://schemas.microsoft.com/office/drawing/2014/main" val="3163000124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1737742608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17810734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0F0F5"/>
                          </a:solidFill>
                        </a:rPr>
                        <a:t>대선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0F0F5"/>
                          </a:solidFill>
                        </a:rPr>
                        <a:t>표차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0F0F5"/>
                          </a:solidFill>
                        </a:rPr>
                        <a:t>성격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85330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0F0F5"/>
                          </a:solidFill>
                        </a:rPr>
                        <a:t>18대 (2012)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D0D4DC"/>
                          </a:solidFill>
                        </a:rPr>
                        <a:t>3.5%p (108만표)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D0D4DC"/>
                          </a:solidFill>
                        </a:rPr>
                        <a:t>양강 접전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204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0F0F5"/>
                          </a:solidFill>
                        </a:rPr>
                        <a:t>19대 (2017)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D0D4DC"/>
                          </a:solidFill>
                        </a:rPr>
                        <a:t>17.0%p (557만표)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D0D4DC"/>
                          </a:solidFill>
                        </a:rPr>
                        <a:t>압승 (탄핵 특수)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1088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0F0F5"/>
                          </a:solidFill>
                        </a:rPr>
                        <a:t>20대 (2022)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D0D4DC"/>
                          </a:solidFill>
                        </a:rPr>
                        <a:t>0.7%p (25만표)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D0D4DC"/>
                          </a:solidFill>
                        </a:rPr>
                        <a:t>역대급 초접전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91905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0F0F5"/>
                          </a:solidFill>
                        </a:rPr>
                        <a:t>21대 (2025)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D0D4DC"/>
                          </a:solidFill>
                        </a:rPr>
                        <a:t>8.2%p (289만표)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D0D4DC"/>
                          </a:solidFill>
                        </a:rPr>
                        <a:t>뚜렷한 격차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9593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FF82A3-85A3-46DE-872B-82E01F4CC518}"/>
              </a:ext>
            </a:extLst>
          </p:cNvPr>
          <p:cNvSpPr txBox="1"/>
          <p:nvPr/>
        </p:nvSpPr>
        <p:spPr>
          <a:xfrm>
            <a:off x="1270000" y="53340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i="1">
                <a:solidFill>
                  <a:srgbClr val="F39C12"/>
                </a:solidFill>
              </a:rPr>
              <a:t>※ </a:t>
            </a:r>
            <a:r>
              <a:rPr lang="ko-KR" altLang="en-US" sz="1400" i="1">
                <a:solidFill>
                  <a:srgbClr val="F39C12"/>
                </a:solidFill>
              </a:rPr>
              <a:t>탄핵 직후</a:t>
            </a:r>
            <a:r>
              <a:rPr lang="en-US" altLang="ko-KR" sz="1400" i="1">
                <a:solidFill>
                  <a:srgbClr val="F39C12"/>
                </a:solidFill>
              </a:rPr>
              <a:t>(19</a:t>
            </a:r>
            <a:r>
              <a:rPr lang="ko-KR" altLang="en-US" sz="1400" i="1">
                <a:solidFill>
                  <a:srgbClr val="F39C12"/>
                </a:solidFill>
              </a:rPr>
              <a:t>대</a:t>
            </a:r>
            <a:r>
              <a:rPr lang="en-US" altLang="ko-KR" sz="1400" i="1">
                <a:solidFill>
                  <a:srgbClr val="F39C12"/>
                </a:solidFill>
              </a:rPr>
              <a:t>) </a:t>
            </a:r>
            <a:r>
              <a:rPr lang="ko-KR" altLang="en-US" sz="1400" i="1">
                <a:solidFill>
                  <a:srgbClr val="F39C12"/>
                </a:solidFill>
              </a:rPr>
              <a:t>압도적 승리 → 초박빙</a:t>
            </a:r>
            <a:r>
              <a:rPr lang="en-US" altLang="ko-KR" sz="1400" i="1">
                <a:solidFill>
                  <a:srgbClr val="F39C12"/>
                </a:solidFill>
              </a:rPr>
              <a:t>(20</a:t>
            </a:r>
            <a:r>
              <a:rPr lang="ko-KR" altLang="en-US" sz="1400" i="1">
                <a:solidFill>
                  <a:srgbClr val="F39C12"/>
                </a:solidFill>
              </a:rPr>
              <a:t>대</a:t>
            </a:r>
            <a:r>
              <a:rPr lang="en-US" altLang="ko-KR" sz="1400" i="1">
                <a:solidFill>
                  <a:srgbClr val="F39C12"/>
                </a:solidFill>
              </a:rPr>
              <a:t>) → </a:t>
            </a:r>
            <a:r>
              <a:rPr lang="ko-KR" altLang="en-US" sz="1400" i="1">
                <a:solidFill>
                  <a:srgbClr val="F39C12"/>
                </a:solidFill>
              </a:rPr>
              <a:t>다시 격차 확대</a:t>
            </a:r>
            <a:r>
              <a:rPr lang="en-US" altLang="ko-KR" sz="1400" i="1">
                <a:solidFill>
                  <a:srgbClr val="F39C12"/>
                </a:solidFill>
              </a:rPr>
              <a:t>(21</a:t>
            </a:r>
            <a:r>
              <a:rPr lang="ko-KR" altLang="en-US" sz="1400" i="1">
                <a:solidFill>
                  <a:srgbClr val="F39C12"/>
                </a:solidFill>
              </a:rPr>
              <a:t>대</a:t>
            </a:r>
            <a:r>
              <a:rPr lang="en-US" altLang="ko-KR" sz="1400" i="1">
                <a:solidFill>
                  <a:srgbClr val="F39C12"/>
                </a:solidFill>
              </a:rPr>
              <a:t>)</a:t>
            </a:r>
            <a:endParaRPr lang="en-US" sz="1400" i="1">
              <a:solidFill>
                <a:srgbClr val="F39C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456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DC12-55F1-DEE6-4C18-62784882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600" b="1"/>
              <a:t>패턴 </a:t>
            </a:r>
            <a:r>
              <a:rPr lang="en-US" altLang="ko-KR" sz="2600" b="1"/>
              <a:t>5: </a:t>
            </a:r>
            <a:r>
              <a:rPr lang="ko-KR" altLang="en-US" sz="2600" b="1"/>
              <a:t>제</a:t>
            </a:r>
            <a:r>
              <a:rPr lang="en-US" altLang="ko-KR" sz="2600" b="1"/>
              <a:t>3</a:t>
            </a:r>
            <a:r>
              <a:rPr lang="ko-KR" altLang="en-US" sz="2600" b="1"/>
              <a:t>후보의 주기적 등장과 퇴장</a:t>
            </a:r>
            <a:endParaRPr lang="en-US" sz="2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EB6FB-B602-BEB3-6F9B-1FB85EC70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18대: 사실상 양자대결 (제3후보 0.3%)</a:t>
            </a:r>
          </a:p>
          <a:p>
            <a:pPr marL="457200" indent="-4572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19대: 다자구도 (</a:t>
            </a:r>
            <a:r>
              <a:rPr lang="ko-KR" sz="1600" b="1" dirty="0">
                <a:solidFill>
                  <a:srgbClr val="9B59B6"/>
                </a:solidFill>
              </a:rPr>
              <a:t>안철수 21.3%</a:t>
            </a:r>
            <a:r>
              <a:rPr lang="ko-KR" sz="1600" dirty="0">
                <a:solidFill>
                  <a:srgbClr val="D0D4DC"/>
                </a:solidFill>
              </a:rPr>
              <a:t>, 유승민 6.7%, 심상정 6.1%)</a:t>
            </a:r>
          </a:p>
          <a:p>
            <a:pPr marL="457200" indent="-4572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20대: 다시 양자대결 회귀 (심상정 2.4%)</a:t>
            </a:r>
          </a:p>
          <a:p>
            <a:pPr marL="457200" indent="-4572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21대: 제3후보 부활 (</a:t>
            </a:r>
            <a:r>
              <a:rPr lang="ko-KR" sz="1600" b="1" dirty="0">
                <a:solidFill>
                  <a:srgbClr val="9B59B6"/>
                </a:solidFill>
              </a:rPr>
              <a:t>이준석 8.3%</a:t>
            </a:r>
            <a:r>
              <a:rPr lang="ko-KR" sz="1600" dirty="0">
                <a:solidFill>
                  <a:srgbClr val="D0D4DC"/>
                </a:solidFill>
              </a:rPr>
              <a:t>, 권영국 1.0%)</a:t>
            </a:r>
          </a:p>
          <a:p>
            <a:pPr marL="457200" indent="-4572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F39C12"/>
                </a:solidFill>
              </a:rPr>
              <a:t>제3후보 등장 시 주로 보수표가 분산되는 경향</a:t>
            </a:r>
          </a:p>
          <a:p>
            <a:pPr marL="457200" indent="-457200">
              <a:lnSpc>
                <a:spcPts val="2200"/>
              </a:lnSpc>
              <a:spcBef>
                <a:spcPts val="400"/>
              </a:spcBef>
              <a:buFont typeface="Arial"/>
              <a:buChar char="▸"/>
            </a:pPr>
            <a:r>
              <a:rPr lang="ko-KR" sz="1600" dirty="0">
                <a:solidFill>
                  <a:srgbClr val="D0D4DC"/>
                </a:solidFill>
              </a:rPr>
              <a:t>19대 </a:t>
            </a:r>
            <a:r>
              <a:rPr lang="ko-KR" sz="1600" dirty="0">
                <a:solidFill>
                  <a:srgbClr val="E74C3C"/>
                </a:solidFill>
              </a:rPr>
              <a:t>홍준표 24%</a:t>
            </a:r>
            <a:r>
              <a:rPr lang="ko-KR" sz="1600" dirty="0">
                <a:solidFill>
                  <a:srgbClr val="D0D4DC"/>
                </a:solidFill>
              </a:rPr>
              <a:t>, 21대 </a:t>
            </a:r>
            <a:r>
              <a:rPr lang="ko-KR" sz="1600" dirty="0">
                <a:solidFill>
                  <a:srgbClr val="E74C3C"/>
                </a:solidFill>
              </a:rPr>
              <a:t>김문수 41%</a:t>
            </a:r>
            <a:r>
              <a:rPr lang="ko-KR" sz="1600" dirty="0">
                <a:solidFill>
                  <a:srgbClr val="D0D4DC"/>
                </a:solidFill>
              </a:rPr>
              <a:t> — 둘 다 제3후보에 표 유출</a:t>
            </a:r>
          </a:p>
        </p:txBody>
      </p:sp>
    </p:spTree>
    <p:extLst>
      <p:ext uri="{BB962C8B-B14F-4D97-AF65-F5344CB8AC3E}">
        <p14:creationId xmlns:p14="http://schemas.microsoft.com/office/powerpoint/2010/main" val="399456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FB08-BCF1-3A46-5F53-90973049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600" b="1"/>
              <a:t>패턴 </a:t>
            </a:r>
            <a:r>
              <a:rPr lang="en-US" altLang="ko-KR" sz="2600" b="1"/>
              <a:t>6: </a:t>
            </a:r>
            <a:r>
              <a:rPr lang="ko-KR" altLang="en-US" sz="2600" b="1"/>
              <a:t>투표율 꾸준히 상승</a:t>
            </a:r>
            <a:endParaRPr lang="en-US" sz="2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D3090-F64B-257F-23B6-8F76FC65D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ts val="2800"/>
              </a:lnSpc>
              <a:spcBef>
                <a:spcPts val="600"/>
              </a:spcBef>
              <a:buFont typeface="Arial"/>
              <a:buChar char="▸"/>
            </a:pPr>
            <a:r>
              <a:rPr lang="en-US" sz="1800" b="1" dirty="0">
                <a:solidFill>
                  <a:srgbClr val="2ECC71"/>
                </a:solidFill>
              </a:rPr>
              <a:t>75.8% → 77.2% → 77.1% → 79.4%</a:t>
            </a:r>
            <a:r>
              <a:rPr lang="ko-KR" sz="1800" dirty="0">
                <a:solidFill>
                  <a:srgbClr val="D0D4DC"/>
                </a:solidFill>
              </a:rPr>
              <a:t> (21대 최고치)</a:t>
            </a:r>
          </a:p>
          <a:p>
            <a:pPr marL="457200" indent="-457200">
              <a:lnSpc>
                <a:spcPts val="2800"/>
              </a:lnSpc>
              <a:spcBef>
                <a:spcPts val="600"/>
              </a:spcBef>
              <a:buFont typeface="Arial"/>
              <a:buChar char="▸"/>
            </a:pPr>
            <a:r>
              <a:rPr lang="ko-KR" sz="1800" dirty="0">
                <a:solidFill>
                  <a:srgbClr val="D0D4DC"/>
                </a:solidFill>
              </a:rPr>
              <a:t>광주: 4번 모두 최고 투표율 시도 — 정치적 관심 최고</a:t>
            </a:r>
          </a:p>
          <a:p>
            <a:pPr marL="457200" indent="-457200">
              <a:lnSpc>
                <a:spcPts val="2800"/>
              </a:lnSpc>
              <a:spcBef>
                <a:spcPts val="600"/>
              </a:spcBef>
              <a:buFont typeface="Arial"/>
              <a:buChar char="▸"/>
            </a:pPr>
            <a:r>
              <a:rPr lang="ko-KR" sz="1800" dirty="0">
                <a:solidFill>
                  <a:srgbClr val="D0D4DC"/>
                </a:solidFill>
              </a:rPr>
              <a:t>제주: 4번 모두 최저 투표율 시도</a:t>
            </a:r>
          </a:p>
          <a:p>
            <a:pPr marL="457200" indent="-457200">
              <a:lnSpc>
                <a:spcPts val="2800"/>
              </a:lnSpc>
              <a:spcBef>
                <a:spcPts val="600"/>
              </a:spcBef>
              <a:buFont typeface="Arial"/>
              <a:buChar char="▸"/>
            </a:pPr>
            <a:r>
              <a:rPr lang="ko-KR" sz="1800" dirty="0">
                <a:solidFill>
                  <a:srgbClr val="F39C12"/>
                </a:solidFill>
              </a:rPr>
              <a:t>21대(2025) 79.4%: 탄핵 정국 속 높은 관심 반영</a:t>
            </a:r>
          </a:p>
        </p:txBody>
      </p:sp>
    </p:spTree>
    <p:extLst>
      <p:ext uri="{BB962C8B-B14F-4D97-AF65-F5344CB8AC3E}">
        <p14:creationId xmlns:p14="http://schemas.microsoft.com/office/powerpoint/2010/main" val="290455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ED05-795A-A828-F1A5-7C087C5B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600" b="1"/>
              <a:t>권역별 득표율 변화 요약</a:t>
            </a:r>
            <a:endParaRPr lang="en-US" sz="26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5E09F7-36C2-4708-9C06-7D867C60E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96801"/>
              </p:ext>
            </p:extLst>
          </p:nvPr>
        </p:nvGraphicFramePr>
        <p:xfrm>
          <a:off x="304800" y="1778000"/>
          <a:ext cx="11582397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933">
                  <a:extLst>
                    <a:ext uri="{9D8B030D-6E8A-4147-A177-3AD203B41FA5}">
                      <a16:colId xmlns:a16="http://schemas.microsoft.com/office/drawing/2014/main" val="1297307487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1127322165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3563074856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1557371087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2575515042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3652516473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2609342598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3013071399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1142381300"/>
                    </a:ext>
                  </a:extLst>
                </a:gridCol>
              </a:tblGrid>
              <a:tr h="78316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권역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498DB"/>
                          </a:solidFill>
                        </a:rPr>
                        <a:t>진보 18대</a:t>
                      </a:r>
                    </a:p>
                  </a:txBody>
                  <a:tcPr anchor="ctr"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498DB"/>
                          </a:solidFill>
                        </a:rPr>
                        <a:t>진보 19대</a:t>
                      </a:r>
                    </a:p>
                  </a:txBody>
                  <a:tcPr anchor="ctr"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498DB"/>
                          </a:solidFill>
                        </a:rPr>
                        <a:t>진보 20대</a:t>
                      </a:r>
                    </a:p>
                  </a:txBody>
                  <a:tcPr anchor="ctr"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498DB"/>
                          </a:solidFill>
                        </a:rPr>
                        <a:t>진보 21대</a:t>
                      </a:r>
                    </a:p>
                  </a:txBody>
                  <a:tcPr anchor="ctr"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74C3C"/>
                          </a:solidFill>
                        </a:rPr>
                        <a:t>보수 18대</a:t>
                      </a:r>
                    </a:p>
                  </a:txBody>
                  <a:tcPr anchor="ctr">
                    <a:solidFill>
                      <a:srgbClr val="3D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74C3C"/>
                          </a:solidFill>
                        </a:rPr>
                        <a:t>보수 19대</a:t>
                      </a:r>
                    </a:p>
                  </a:txBody>
                  <a:tcPr anchor="ctr">
                    <a:solidFill>
                      <a:srgbClr val="3D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74C3C"/>
                          </a:solidFill>
                        </a:rPr>
                        <a:t>보수 20대</a:t>
                      </a:r>
                    </a:p>
                  </a:txBody>
                  <a:tcPr anchor="ctr">
                    <a:solidFill>
                      <a:srgbClr val="3D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74C3C"/>
                          </a:solidFill>
                        </a:rPr>
                        <a:t>보수 21대</a:t>
                      </a:r>
                    </a:p>
                  </a:txBody>
                  <a:tcPr anchor="ctr">
                    <a:solidFill>
                      <a:srgbClr val="3D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340602"/>
                  </a:ext>
                </a:extLst>
              </a:tr>
              <a:tr h="783166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수도권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49.4%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41.7%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48.1%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49.9%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49.9%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20.7%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47.3%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39.1%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57927"/>
                  </a:ext>
                </a:extLst>
              </a:tr>
              <a:tr h="783166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충청권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45.7%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42.6%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46.7%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48.0%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53.5%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21.6%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48.4%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41.5%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59442"/>
                  </a:ext>
                </a:extLst>
              </a:tr>
              <a:tr h="783166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호남권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88.7%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61.7%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84.0%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83.9%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10.3%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2.4%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12.8%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9.2%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99190"/>
                  </a:ext>
                </a:extLst>
              </a:tr>
              <a:tr h="783166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영남권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30.7%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31.3%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32.0%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33.7%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68.5%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37.9%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63.2%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57.1%</a:t>
                      </a:r>
                    </a:p>
                  </a:txBody>
                  <a:tcPr anchor="ctr">
                    <a:solidFill>
                      <a:srgbClr val="1A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490484"/>
                  </a:ext>
                </a:extLst>
              </a:tr>
              <a:tr h="78317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0F5"/>
                          </a:solidFill>
                        </a:rPr>
                        <a:t>강원/제주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43.0%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39.6%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46.7%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7FBFEE"/>
                          </a:solidFill>
                        </a:rPr>
                        <a:t>46.7%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56.0%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24.0%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47.9%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0A0A0"/>
                          </a:solidFill>
                        </a:rPr>
                        <a:t>43.3%</a:t>
                      </a:r>
                    </a:p>
                  </a:txBody>
                  <a:tcPr anchor="ctr"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395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037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173441272]">
  <a:themeElements>
    <a:clrScheme name="Korean Election Analysis">
      <a:dk1>
        <a:srgbClr val="F0F0F5"/>
      </a:dk1>
      <a:lt1>
        <a:srgbClr val="0D1B2A"/>
      </a:lt1>
      <a:dk2>
        <a:srgbClr val="B0B8C8"/>
      </a:dk2>
      <a:lt2>
        <a:srgbClr val="1B2838"/>
      </a:lt2>
      <a:accent1>
        <a:srgbClr val="3498DB"/>
      </a:accent1>
      <a:accent2>
        <a:srgbClr val="E74C3C"/>
      </a:accent2>
      <a:accent3>
        <a:srgbClr val="2ECC71"/>
      </a:accent3>
      <a:accent4>
        <a:srgbClr val="F39C12"/>
      </a:accent4>
      <a:accent5>
        <a:srgbClr val="9B59B6"/>
      </a:accent5>
      <a:accent6>
        <a:srgbClr val="1ABC9C"/>
      </a:accent6>
      <a:hlink>
        <a:srgbClr val="467886"/>
      </a:hlink>
      <a:folHlink>
        <a:srgbClr val="96607D"/>
      </a:folHlink>
    </a:clrScheme>
    <a:fontScheme name="Korean Election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6EF3B42-81B8-4CFA-A264-531AB5433CE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490e0c2-1721-4d9c-94ec-78637623d96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720</Words>
  <Application>Microsoft Office PowerPoint</Application>
  <PresentationFormat>Widescreen</PresentationFormat>
  <Paragraphs>146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Pretendard</vt:lpstr>
      <vt:lpstr>Arial</vt:lpstr>
      <vt:lpstr>Office Theme [1776173441272]</vt:lpstr>
      <vt:lpstr>한국 대선 교차 분석 (18대~21대)</vt:lpstr>
      <vt:lpstr>4개 대선 개요</vt:lpstr>
      <vt:lpstr>패턴 1: 호남·영남 지역주의는 여전히 견고</vt:lpstr>
      <vt:lpstr>패턴 2: 대전·충청이 최대 스윙 지역</vt:lpstr>
      <vt:lpstr>패턴 3: 수도권이 승패를 결정</vt:lpstr>
      <vt:lpstr>패턴 4: 표차는 극적으로 요동 (진자운동)</vt:lpstr>
      <vt:lpstr>패턴 5: 제3후보의 주기적 등장과 퇴장</vt:lpstr>
      <vt:lpstr>패턴 6: 투표율 꾸준히 상승</vt:lpstr>
      <vt:lpstr>권역별 득표율 변화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Tak, Sechan</dc:creator>
  <cp:lastModifiedBy>Tak, Sechan</cp:lastModifiedBy>
  <cp:revision>2</cp:revision>
  <dcterms:created xsi:type="dcterms:W3CDTF">2026-04-14T13:27:48Z</dcterms:created>
  <dcterms:modified xsi:type="dcterms:W3CDTF">2026-04-14T13:44:39Z</dcterms:modified>
</cp:coreProperties>
</file>